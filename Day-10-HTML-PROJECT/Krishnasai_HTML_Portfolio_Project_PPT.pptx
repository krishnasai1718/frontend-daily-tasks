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96" d="100"/>
          <a:sy n="96" d="100"/>
        </p:scale>
        <p:origin x="149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3136649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jp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11.png"/><Relationship Id="rId7" Type="http://schemas.openxmlformats.org/officeDocument/2006/relationships/image" Target="../media/image1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8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2.png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5.png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62C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280160"/>
            <a:ext cx="3840480" cy="3840480"/>
          </a:xfrm>
          <a:prstGeom prst="ellipse">
            <a:avLst/>
          </a:prstGeom>
          <a:solidFill>
            <a:srgbClr val="028090">
              <a:alpha val="22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371600" y="4389120"/>
            <a:ext cx="4114800" cy="4114800"/>
          </a:xfrm>
          <a:prstGeom prst="ellipse">
            <a:avLst/>
          </a:prstGeom>
          <a:solidFill>
            <a:srgbClr val="00A896">
              <a:alpha val="18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5591556" y="914400"/>
            <a:ext cx="1005840" cy="100584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47588" y="1170432"/>
            <a:ext cx="493776" cy="49377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57200" y="2331720"/>
            <a:ext cx="1127455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PERSONAL PORTFOLIO WEBSITE</a:t>
            </a:r>
            <a:endParaRPr lang="en-US" sz="3800" dirty="0"/>
          </a:p>
        </p:txBody>
      </p:sp>
      <p:sp>
        <p:nvSpPr>
          <p:cNvPr id="7" name="Text 4"/>
          <p:cNvSpPr/>
          <p:nvPr/>
        </p:nvSpPr>
        <p:spPr>
          <a:xfrm>
            <a:off x="457200" y="3063240"/>
            <a:ext cx="1127455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i="1" dirty="0">
                <a:solidFill>
                  <a:srgbClr val="CFE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Multi-Page HTML Project</a:t>
            </a:r>
            <a:endParaRPr lang="en-US" sz="1800" dirty="0"/>
          </a:p>
        </p:txBody>
      </p:sp>
      <p:sp>
        <p:nvSpPr>
          <p:cNvPr id="8" name="Shape 5"/>
          <p:cNvSpPr/>
          <p:nvPr/>
        </p:nvSpPr>
        <p:spPr>
          <a:xfrm>
            <a:off x="5088636" y="3794760"/>
            <a:ext cx="2011680" cy="0"/>
          </a:xfrm>
          <a:prstGeom prst="line">
            <a:avLst/>
          </a:prstGeom>
          <a:noFill/>
          <a:ln w="19050">
            <a:solidFill>
              <a:srgbClr val="02C39A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457200" y="4023360"/>
            <a:ext cx="1127455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Krishnasai Doddapuneni</a:t>
            </a:r>
            <a:endParaRPr lang="en-US" sz="1600" dirty="0"/>
          </a:p>
          <a:p>
            <a:pPr marL="0" indent="0" algn="ctr">
              <a:lnSpc>
                <a:spcPct val="130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Aspiring Python Full Stack Developer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457200" y="4800600"/>
            <a:ext cx="112745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5C7A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B.Tech, Computer Science  |  Hyderabad, India  |  2026</a:t>
            </a:r>
            <a:endParaRPr lang="en-US" sz="1250" dirty="0"/>
          </a:p>
        </p:txBody>
      </p:sp>
      <p:sp>
        <p:nvSpPr>
          <p:cNvPr id="11" name="Text 8"/>
          <p:cNvSpPr/>
          <p:nvPr/>
        </p:nvSpPr>
        <p:spPr>
          <a:xfrm>
            <a:off x="457200" y="6263640"/>
            <a:ext cx="1127455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with HTML5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566928" cy="566928"/>
          </a:xfrm>
          <a:prstGeom prst="ellipse">
            <a:avLst/>
          </a:prstGeom>
          <a:solidFill>
            <a:srgbClr val="EAF7F5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" y="548640"/>
            <a:ext cx="310896" cy="31089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88720" y="36576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63A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</a:t>
            </a:r>
            <a:endParaRPr lang="en-US" sz="2800" dirty="0"/>
          </a:p>
        </p:txBody>
      </p:sp>
      <p:sp>
        <p:nvSpPr>
          <p:cNvPr id="5" name="Text 2"/>
          <p:cNvSpPr/>
          <p:nvPr/>
        </p:nvSpPr>
        <p:spPr>
          <a:xfrm>
            <a:off x="8531352" y="50292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50" dirty="0">
                <a:solidFill>
                  <a:srgbClr val="5C7A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 Portfolio Website  •  HTML Project</a:t>
            </a:r>
            <a:endParaRPr lang="en-US" sz="1050" dirty="0"/>
          </a:p>
        </p:txBody>
      </p:sp>
      <p:sp>
        <p:nvSpPr>
          <p:cNvPr id="6" name="Shape 3"/>
          <p:cNvSpPr/>
          <p:nvPr/>
        </p:nvSpPr>
        <p:spPr>
          <a:xfrm>
            <a:off x="457200" y="1143000"/>
            <a:ext cx="11274552" cy="0"/>
          </a:xfrm>
          <a:prstGeom prst="line">
            <a:avLst/>
          </a:prstGeom>
          <a:noFill/>
          <a:ln w="15875">
            <a:solidFill>
              <a:srgbClr val="CFEDE8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594360" y="1417320"/>
            <a:ext cx="6263640" cy="473699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15000"/>
              </a:lnSpc>
              <a:spcAft>
                <a:spcPts val="1200"/>
              </a:spcAft>
              <a:buSzPct val="100000"/>
              <a:buChar char="●"/>
            </a:pPr>
            <a:r>
              <a:rPr lang="en-US" dirty="0">
                <a:solidFill>
                  <a:srgbClr val="163A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personal portfolio website built entirely with core HTML5 to present a clean professional profile online.</a:t>
            </a:r>
            <a:endParaRPr lang="en-US" dirty="0"/>
          </a:p>
          <a:p>
            <a:pPr marL="342900" indent="-342900">
              <a:lnSpc>
                <a:spcPct val="115000"/>
              </a:lnSpc>
              <a:spcAft>
                <a:spcPts val="1200"/>
              </a:spcAft>
              <a:buSzPct val="100000"/>
              <a:buChar char="●"/>
            </a:pPr>
            <a:r>
              <a:rPr lang="en-US" dirty="0">
                <a:solidFill>
                  <a:srgbClr val="163A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Showcases education, technical skills, projects, achievements, and contact details across linked pages.</a:t>
            </a:r>
            <a:endParaRPr lang="en-US" dirty="0"/>
          </a:p>
          <a:p>
            <a:pPr marL="342900" indent="-342900">
              <a:lnSpc>
                <a:spcPct val="115000"/>
              </a:lnSpc>
              <a:spcAft>
                <a:spcPts val="1200"/>
              </a:spcAft>
              <a:buSzPct val="100000"/>
              <a:buChar char="●"/>
            </a:pPr>
            <a:r>
              <a:rPr lang="en-US" dirty="0">
                <a:solidFill>
                  <a:srgbClr val="163A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Created by a fresher aspiring to work as a Python Full Stack Developer, to stand out to recruiters.</a:t>
            </a:r>
            <a:endParaRPr lang="en-US" dirty="0"/>
          </a:p>
          <a:p>
            <a:pPr marL="342900" indent="-342900">
              <a:lnSpc>
                <a:spcPct val="115000"/>
              </a:lnSpc>
              <a:spcAft>
                <a:spcPts val="1200"/>
              </a:spcAft>
              <a:buSzPct val="100000"/>
              <a:buChar char="●"/>
            </a:pPr>
            <a:r>
              <a:rPr lang="en-US" dirty="0">
                <a:solidFill>
                  <a:srgbClr val="163A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without any external framework or CSS file — every page is hand-written, semantic HTML.</a:t>
            </a:r>
            <a:endParaRPr lang="en-US" dirty="0"/>
          </a:p>
        </p:txBody>
      </p:sp>
      <p:sp>
        <p:nvSpPr>
          <p:cNvPr id="8" name="Shape 5"/>
          <p:cNvSpPr/>
          <p:nvPr/>
        </p:nvSpPr>
        <p:spPr>
          <a:xfrm>
            <a:off x="7818120" y="1508760"/>
            <a:ext cx="2286000" cy="2286000"/>
          </a:xfrm>
          <a:prstGeom prst="ellipse">
            <a:avLst/>
          </a:prstGeom>
          <a:solidFill>
            <a:srgbClr val="EAF7F5"/>
          </a:solidFill>
          <a:ln w="25400">
            <a:solidFill>
              <a:srgbClr val="00A896"/>
            </a:solidFill>
            <a:prstDash val="solid"/>
          </a:ln>
        </p:spPr>
      </p:sp>
      <p:pic>
        <p:nvPicPr>
          <p:cNvPr id="9" name="Image 1" descr="/home/claude/project/profile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55280" y="1645920"/>
            <a:ext cx="2011680" cy="2011680"/>
          </a:xfrm>
          <a:prstGeom prst="ellipse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7315200" y="4069080"/>
            <a:ext cx="4206240" cy="713232"/>
          </a:xfrm>
          <a:prstGeom prst="roundRect">
            <a:avLst>
              <a:gd name="adj" fmla="val 12821"/>
            </a:avLst>
          </a:prstGeom>
          <a:solidFill>
            <a:srgbClr val="EAF7F5"/>
          </a:solidFill>
          <a:ln/>
          <a:effectLst>
            <a:outerShdw blurRad="50800" dist="127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11" name="Text 7"/>
          <p:cNvSpPr/>
          <p:nvPr/>
        </p:nvSpPr>
        <p:spPr>
          <a:xfrm>
            <a:off x="7498080" y="4069080"/>
            <a:ext cx="91440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2000" dirty="0"/>
          </a:p>
        </p:txBody>
      </p:sp>
      <p:sp>
        <p:nvSpPr>
          <p:cNvPr id="12" name="Text 8"/>
          <p:cNvSpPr/>
          <p:nvPr/>
        </p:nvSpPr>
        <p:spPr>
          <a:xfrm>
            <a:off x="8458200" y="4069080"/>
            <a:ext cx="292608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63A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Pages</a:t>
            </a:r>
            <a:endParaRPr lang="en-US" sz="1250" dirty="0"/>
          </a:p>
        </p:txBody>
      </p:sp>
      <p:sp>
        <p:nvSpPr>
          <p:cNvPr id="13" name="Shape 9"/>
          <p:cNvSpPr/>
          <p:nvPr/>
        </p:nvSpPr>
        <p:spPr>
          <a:xfrm>
            <a:off x="7315200" y="4937760"/>
            <a:ext cx="4206240" cy="713232"/>
          </a:xfrm>
          <a:prstGeom prst="roundRect">
            <a:avLst>
              <a:gd name="adj" fmla="val 12821"/>
            </a:avLst>
          </a:prstGeom>
          <a:solidFill>
            <a:srgbClr val="EAF7F5"/>
          </a:solidFill>
          <a:ln/>
          <a:effectLst>
            <a:outerShdw blurRad="50800" dist="127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14" name="Text 10"/>
          <p:cNvSpPr/>
          <p:nvPr/>
        </p:nvSpPr>
        <p:spPr>
          <a:xfrm>
            <a:off x="7498080" y="4937760"/>
            <a:ext cx="91440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</a:t>
            </a:r>
            <a:endParaRPr lang="en-US" sz="2000" dirty="0"/>
          </a:p>
        </p:txBody>
      </p:sp>
      <p:sp>
        <p:nvSpPr>
          <p:cNvPr id="15" name="Text 11"/>
          <p:cNvSpPr/>
          <p:nvPr/>
        </p:nvSpPr>
        <p:spPr>
          <a:xfrm>
            <a:off x="8458200" y="4937760"/>
            <a:ext cx="292608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63A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Hand-coded HTML</a:t>
            </a:r>
            <a:endParaRPr lang="en-US" sz="1250" dirty="0"/>
          </a:p>
        </p:txBody>
      </p:sp>
      <p:sp>
        <p:nvSpPr>
          <p:cNvPr id="16" name="Shape 12"/>
          <p:cNvSpPr/>
          <p:nvPr/>
        </p:nvSpPr>
        <p:spPr>
          <a:xfrm>
            <a:off x="7315200" y="5806440"/>
            <a:ext cx="4206240" cy="713232"/>
          </a:xfrm>
          <a:prstGeom prst="roundRect">
            <a:avLst>
              <a:gd name="adj" fmla="val 12821"/>
            </a:avLst>
          </a:prstGeom>
          <a:solidFill>
            <a:srgbClr val="EAF7F5"/>
          </a:solidFill>
          <a:ln/>
          <a:effectLst>
            <a:outerShdw blurRad="50800" dist="127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17" name="Text 13"/>
          <p:cNvSpPr/>
          <p:nvPr/>
        </p:nvSpPr>
        <p:spPr>
          <a:xfrm>
            <a:off x="7498080" y="5806440"/>
            <a:ext cx="91440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00" dirty="0"/>
          </a:p>
        </p:txBody>
      </p:sp>
      <p:sp>
        <p:nvSpPr>
          <p:cNvPr id="18" name="Text 14"/>
          <p:cNvSpPr/>
          <p:nvPr/>
        </p:nvSpPr>
        <p:spPr>
          <a:xfrm>
            <a:off x="8458200" y="5806440"/>
            <a:ext cx="292608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63A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shareable site</a:t>
            </a:r>
            <a:endParaRPr lang="en-US" sz="1250" dirty="0"/>
          </a:p>
        </p:txBody>
      </p:sp>
      <p:sp>
        <p:nvSpPr>
          <p:cNvPr id="19" name="Text 15"/>
          <p:cNvSpPr/>
          <p:nvPr/>
        </p:nvSpPr>
        <p:spPr>
          <a:xfrm>
            <a:off x="11365992" y="635508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C7A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566928" cy="566928"/>
          </a:xfrm>
          <a:prstGeom prst="ellipse">
            <a:avLst/>
          </a:prstGeom>
          <a:solidFill>
            <a:srgbClr val="EAF7F5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" y="548640"/>
            <a:ext cx="310896" cy="31089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88720" y="36576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63A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Objective</a:t>
            </a:r>
            <a:endParaRPr lang="en-US" sz="2800" dirty="0"/>
          </a:p>
        </p:txBody>
      </p:sp>
      <p:sp>
        <p:nvSpPr>
          <p:cNvPr id="5" name="Text 2"/>
          <p:cNvSpPr/>
          <p:nvPr/>
        </p:nvSpPr>
        <p:spPr>
          <a:xfrm>
            <a:off x="8531352" y="50292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50" dirty="0">
                <a:solidFill>
                  <a:srgbClr val="5C7A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 Portfolio Website  •  HTML Project</a:t>
            </a:r>
            <a:endParaRPr lang="en-US" sz="1050" dirty="0"/>
          </a:p>
        </p:txBody>
      </p:sp>
      <p:sp>
        <p:nvSpPr>
          <p:cNvPr id="6" name="Shape 3"/>
          <p:cNvSpPr/>
          <p:nvPr/>
        </p:nvSpPr>
        <p:spPr>
          <a:xfrm>
            <a:off x="457200" y="1143000"/>
            <a:ext cx="11274552" cy="0"/>
          </a:xfrm>
          <a:prstGeom prst="line">
            <a:avLst/>
          </a:prstGeom>
          <a:noFill/>
          <a:ln w="15875">
            <a:solidFill>
              <a:srgbClr val="CFEDE8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594360" y="1417320"/>
            <a:ext cx="457200" cy="45720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8" name="Text 5"/>
          <p:cNvSpPr/>
          <p:nvPr/>
        </p:nvSpPr>
        <p:spPr>
          <a:xfrm>
            <a:off x="594360" y="14173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1234440" y="1362456"/>
            <a:ext cx="100584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63A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a clean, organized, multi-page personal portfolio website.</a:t>
            </a:r>
            <a:endParaRPr lang="en-US" sz="1500" dirty="0"/>
          </a:p>
        </p:txBody>
      </p:sp>
      <p:sp>
        <p:nvSpPr>
          <p:cNvPr id="10" name="Shape 7"/>
          <p:cNvSpPr/>
          <p:nvPr/>
        </p:nvSpPr>
        <p:spPr>
          <a:xfrm>
            <a:off x="594360" y="2258568"/>
            <a:ext cx="457200" cy="45720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1" name="Text 8"/>
          <p:cNvSpPr/>
          <p:nvPr/>
        </p:nvSpPr>
        <p:spPr>
          <a:xfrm>
            <a:off x="594360" y="225856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1234440" y="2203704"/>
            <a:ext cx="100584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63A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Practice and apply core HTML elements — text, lists, tables, media, forms, and navigation.</a:t>
            </a:r>
            <a:endParaRPr lang="en-US" sz="1500" dirty="0"/>
          </a:p>
        </p:txBody>
      </p:sp>
      <p:sp>
        <p:nvSpPr>
          <p:cNvPr id="13" name="Shape 10"/>
          <p:cNvSpPr/>
          <p:nvPr/>
        </p:nvSpPr>
        <p:spPr>
          <a:xfrm>
            <a:off x="594360" y="3099816"/>
            <a:ext cx="457200" cy="45720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4" name="Text 11"/>
          <p:cNvSpPr/>
          <p:nvPr/>
        </p:nvSpPr>
        <p:spPr>
          <a:xfrm>
            <a:off x="594360" y="3099816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5" name="Text 12"/>
          <p:cNvSpPr/>
          <p:nvPr/>
        </p:nvSpPr>
        <p:spPr>
          <a:xfrm>
            <a:off x="1234440" y="3044952"/>
            <a:ext cx="100584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63A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 academic background, technical skills, and project work in one place.</a:t>
            </a:r>
            <a:endParaRPr lang="en-US" sz="1500" dirty="0"/>
          </a:p>
        </p:txBody>
      </p:sp>
      <p:sp>
        <p:nvSpPr>
          <p:cNvPr id="16" name="Shape 13"/>
          <p:cNvSpPr/>
          <p:nvPr/>
        </p:nvSpPr>
        <p:spPr>
          <a:xfrm>
            <a:off x="594360" y="3941064"/>
            <a:ext cx="457200" cy="45720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7" name="Text 14"/>
          <p:cNvSpPr/>
          <p:nvPr/>
        </p:nvSpPr>
        <p:spPr>
          <a:xfrm>
            <a:off x="594360" y="3941064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18" name="Text 15"/>
          <p:cNvSpPr/>
          <p:nvPr/>
        </p:nvSpPr>
        <p:spPr>
          <a:xfrm>
            <a:off x="1234440" y="3886200"/>
            <a:ext cx="100584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63A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 foundation that can later be enhanced with CSS, JavaScript, and Bootstrap.</a:t>
            </a:r>
            <a:endParaRPr lang="en-US" sz="1500" dirty="0"/>
          </a:p>
        </p:txBody>
      </p:sp>
      <p:sp>
        <p:nvSpPr>
          <p:cNvPr id="19" name="Shape 16"/>
          <p:cNvSpPr/>
          <p:nvPr/>
        </p:nvSpPr>
        <p:spPr>
          <a:xfrm>
            <a:off x="594360" y="4782312"/>
            <a:ext cx="457200" cy="45720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20" name="Text 17"/>
          <p:cNvSpPr/>
          <p:nvPr/>
        </p:nvSpPr>
        <p:spPr>
          <a:xfrm>
            <a:off x="594360" y="478231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  <p:sp>
        <p:nvSpPr>
          <p:cNvPr id="21" name="Text 18"/>
          <p:cNvSpPr/>
          <p:nvPr/>
        </p:nvSpPr>
        <p:spPr>
          <a:xfrm>
            <a:off x="1234440" y="4727448"/>
            <a:ext cx="100584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63A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 a fresher's job search with a single, shareable professional link.</a:t>
            </a:r>
            <a:endParaRPr lang="en-US" sz="1500" dirty="0"/>
          </a:p>
        </p:txBody>
      </p:sp>
      <p:sp>
        <p:nvSpPr>
          <p:cNvPr id="22" name="Text 19"/>
          <p:cNvSpPr/>
          <p:nvPr/>
        </p:nvSpPr>
        <p:spPr>
          <a:xfrm>
            <a:off x="11365992" y="635508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C7A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566928" cy="566928"/>
          </a:xfrm>
          <a:prstGeom prst="ellipse">
            <a:avLst/>
          </a:prstGeom>
          <a:solidFill>
            <a:srgbClr val="EAF7F5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" y="548640"/>
            <a:ext cx="310896" cy="31089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88720" y="36576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63A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 Tags Used</a:t>
            </a:r>
            <a:endParaRPr lang="en-US" sz="2800" dirty="0"/>
          </a:p>
        </p:txBody>
      </p:sp>
      <p:sp>
        <p:nvSpPr>
          <p:cNvPr id="5" name="Text 2"/>
          <p:cNvSpPr/>
          <p:nvPr/>
        </p:nvSpPr>
        <p:spPr>
          <a:xfrm>
            <a:off x="8531352" y="50292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50" dirty="0">
                <a:solidFill>
                  <a:srgbClr val="5C7A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 Portfolio Website  •  HTML Project</a:t>
            </a:r>
            <a:endParaRPr lang="en-US" sz="1050" dirty="0"/>
          </a:p>
        </p:txBody>
      </p:sp>
      <p:sp>
        <p:nvSpPr>
          <p:cNvPr id="6" name="Shape 3"/>
          <p:cNvSpPr/>
          <p:nvPr/>
        </p:nvSpPr>
        <p:spPr>
          <a:xfrm>
            <a:off x="457200" y="1143000"/>
            <a:ext cx="11274552" cy="0"/>
          </a:xfrm>
          <a:prstGeom prst="line">
            <a:avLst/>
          </a:prstGeom>
          <a:noFill/>
          <a:ln w="15875">
            <a:solidFill>
              <a:srgbClr val="CFEDE8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548640" y="1371600"/>
            <a:ext cx="5440680" cy="1170432"/>
          </a:xfrm>
          <a:prstGeom prst="roundRect">
            <a:avLst>
              <a:gd name="adj" fmla="val 6250"/>
            </a:avLst>
          </a:prstGeom>
          <a:solidFill>
            <a:srgbClr val="EAF7F5"/>
          </a:solidFill>
          <a:ln/>
          <a:effectLst>
            <a:outerShdw blurRad="50800" dist="12700" dir="5400000" algn="bl" rotWithShape="0">
              <a:srgbClr val="000000">
                <a:alpha val="7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731520" y="1463040"/>
            <a:ext cx="5074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</a:t>
            </a:r>
            <a:endParaRPr lang="en-US" sz="1350" dirty="0"/>
          </a:p>
        </p:txBody>
      </p:sp>
      <p:sp>
        <p:nvSpPr>
          <p:cNvPr id="9" name="Text 6"/>
          <p:cNvSpPr/>
          <p:nvPr/>
        </p:nvSpPr>
        <p:spPr>
          <a:xfrm>
            <a:off x="731520" y="1792224"/>
            <a:ext cx="5074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163A3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&lt;html&gt; &lt;head&gt; &lt;title&gt; &lt;meta&gt; &lt;body&gt;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6217920" y="1371600"/>
            <a:ext cx="5440680" cy="1170432"/>
          </a:xfrm>
          <a:prstGeom prst="roundRect">
            <a:avLst>
              <a:gd name="adj" fmla="val 6250"/>
            </a:avLst>
          </a:prstGeom>
          <a:solidFill>
            <a:srgbClr val="EAF7F5"/>
          </a:solidFill>
          <a:ln/>
          <a:effectLst>
            <a:outerShdw blurRad="50800" dist="12700" dir="5400000" algn="bl" rotWithShape="0">
              <a:srgbClr val="000000">
                <a:alpha val="7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6400800" y="1463040"/>
            <a:ext cx="5074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Headings &amp; Text</a:t>
            </a:r>
            <a:endParaRPr lang="en-US" sz="1350" dirty="0"/>
          </a:p>
        </p:txBody>
      </p:sp>
      <p:sp>
        <p:nvSpPr>
          <p:cNvPr id="12" name="Text 9"/>
          <p:cNvSpPr/>
          <p:nvPr/>
        </p:nvSpPr>
        <p:spPr>
          <a:xfrm>
            <a:off x="6400800" y="1792224"/>
            <a:ext cx="5074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163A3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&lt;h1&gt;–&lt;h3&gt; &lt;p&gt; &lt;b&gt; &lt;i&gt; &lt;u&gt; &lt;em&gt; &lt;font&gt;</a:t>
            </a:r>
            <a:endParaRPr lang="en-US" sz="1150" dirty="0"/>
          </a:p>
        </p:txBody>
      </p:sp>
      <p:sp>
        <p:nvSpPr>
          <p:cNvPr id="13" name="Shape 10"/>
          <p:cNvSpPr/>
          <p:nvPr/>
        </p:nvSpPr>
        <p:spPr>
          <a:xfrm>
            <a:off x="548640" y="2706624"/>
            <a:ext cx="5440680" cy="1170432"/>
          </a:xfrm>
          <a:prstGeom prst="roundRect">
            <a:avLst>
              <a:gd name="adj" fmla="val 6250"/>
            </a:avLst>
          </a:prstGeom>
          <a:solidFill>
            <a:srgbClr val="EAF7F5"/>
          </a:solidFill>
          <a:ln/>
          <a:effectLst>
            <a:outerShdw blurRad="50800" dist="12700" dir="5400000" algn="bl" rotWithShape="0">
              <a:srgbClr val="000000">
                <a:alpha val="7000"/>
              </a:srgbClr>
            </a:outerShdw>
          </a:effectLst>
        </p:spPr>
      </p:sp>
      <p:sp>
        <p:nvSpPr>
          <p:cNvPr id="14" name="Text 11"/>
          <p:cNvSpPr/>
          <p:nvPr/>
        </p:nvSpPr>
        <p:spPr>
          <a:xfrm>
            <a:off x="731520" y="2798064"/>
            <a:ext cx="5074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Lists</a:t>
            </a:r>
            <a:endParaRPr lang="en-US" sz="1350" dirty="0"/>
          </a:p>
        </p:txBody>
      </p:sp>
      <p:sp>
        <p:nvSpPr>
          <p:cNvPr id="15" name="Text 12"/>
          <p:cNvSpPr/>
          <p:nvPr/>
        </p:nvSpPr>
        <p:spPr>
          <a:xfrm>
            <a:off x="731520" y="3127248"/>
            <a:ext cx="5074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163A3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&lt;ul&gt; &lt;ol&gt; &lt;li&gt; &lt;dl&gt; &lt;dt&gt; &lt;dd&gt;</a:t>
            </a:r>
            <a:endParaRPr lang="en-US" sz="1150" dirty="0"/>
          </a:p>
        </p:txBody>
      </p:sp>
      <p:sp>
        <p:nvSpPr>
          <p:cNvPr id="16" name="Shape 13"/>
          <p:cNvSpPr/>
          <p:nvPr/>
        </p:nvSpPr>
        <p:spPr>
          <a:xfrm>
            <a:off x="6217920" y="2706624"/>
            <a:ext cx="5440680" cy="1170432"/>
          </a:xfrm>
          <a:prstGeom prst="roundRect">
            <a:avLst>
              <a:gd name="adj" fmla="val 6250"/>
            </a:avLst>
          </a:prstGeom>
          <a:solidFill>
            <a:srgbClr val="EAF7F5"/>
          </a:solidFill>
          <a:ln/>
          <a:effectLst>
            <a:outerShdw blurRad="50800" dist="12700" dir="5400000" algn="bl" rotWithShape="0">
              <a:srgbClr val="000000">
                <a:alpha val="7000"/>
              </a:srgbClr>
            </a:outerShdw>
          </a:effectLst>
        </p:spPr>
      </p:sp>
      <p:sp>
        <p:nvSpPr>
          <p:cNvPr id="17" name="Text 14"/>
          <p:cNvSpPr/>
          <p:nvPr/>
        </p:nvSpPr>
        <p:spPr>
          <a:xfrm>
            <a:off x="6400800" y="2798064"/>
            <a:ext cx="5074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Tables</a:t>
            </a:r>
            <a:endParaRPr lang="en-US" sz="1350" dirty="0"/>
          </a:p>
        </p:txBody>
      </p:sp>
      <p:sp>
        <p:nvSpPr>
          <p:cNvPr id="18" name="Text 15"/>
          <p:cNvSpPr/>
          <p:nvPr/>
        </p:nvSpPr>
        <p:spPr>
          <a:xfrm>
            <a:off x="6400800" y="3127248"/>
            <a:ext cx="5074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163A3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&lt;table&gt; &lt;tr&gt; &lt;th&gt; &lt;td&gt;</a:t>
            </a:r>
            <a:endParaRPr lang="en-US" sz="1150" dirty="0"/>
          </a:p>
        </p:txBody>
      </p:sp>
      <p:sp>
        <p:nvSpPr>
          <p:cNvPr id="19" name="Shape 16"/>
          <p:cNvSpPr/>
          <p:nvPr/>
        </p:nvSpPr>
        <p:spPr>
          <a:xfrm>
            <a:off x="548640" y="4041648"/>
            <a:ext cx="5440680" cy="1170432"/>
          </a:xfrm>
          <a:prstGeom prst="roundRect">
            <a:avLst>
              <a:gd name="adj" fmla="val 6250"/>
            </a:avLst>
          </a:prstGeom>
          <a:solidFill>
            <a:srgbClr val="EAF7F5"/>
          </a:solidFill>
          <a:ln/>
          <a:effectLst>
            <a:outerShdw blurRad="50800" dist="12700" dir="5400000" algn="bl" rotWithShape="0">
              <a:srgbClr val="000000">
                <a:alpha val="7000"/>
              </a:srgbClr>
            </a:outerShdw>
          </a:effectLst>
        </p:spPr>
      </p:sp>
      <p:sp>
        <p:nvSpPr>
          <p:cNvPr id="20" name="Text 17"/>
          <p:cNvSpPr/>
          <p:nvPr/>
        </p:nvSpPr>
        <p:spPr>
          <a:xfrm>
            <a:off x="731520" y="4133088"/>
            <a:ext cx="5074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Navigation &amp; Links</a:t>
            </a:r>
            <a:endParaRPr lang="en-US" sz="1350" dirty="0"/>
          </a:p>
        </p:txBody>
      </p:sp>
      <p:sp>
        <p:nvSpPr>
          <p:cNvPr id="21" name="Text 18"/>
          <p:cNvSpPr/>
          <p:nvPr/>
        </p:nvSpPr>
        <p:spPr>
          <a:xfrm>
            <a:off x="731520" y="4462272"/>
            <a:ext cx="5074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163A3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&lt;a&gt; &lt;nav&gt;</a:t>
            </a:r>
            <a:endParaRPr lang="en-US" sz="1150" dirty="0"/>
          </a:p>
        </p:txBody>
      </p:sp>
      <p:sp>
        <p:nvSpPr>
          <p:cNvPr id="22" name="Shape 19"/>
          <p:cNvSpPr/>
          <p:nvPr/>
        </p:nvSpPr>
        <p:spPr>
          <a:xfrm>
            <a:off x="6217920" y="4041648"/>
            <a:ext cx="5440680" cy="1170432"/>
          </a:xfrm>
          <a:prstGeom prst="roundRect">
            <a:avLst>
              <a:gd name="adj" fmla="val 6250"/>
            </a:avLst>
          </a:prstGeom>
          <a:solidFill>
            <a:srgbClr val="EAF7F5"/>
          </a:solidFill>
          <a:ln/>
          <a:effectLst>
            <a:outerShdw blurRad="50800" dist="12700" dir="5400000" algn="bl" rotWithShape="0">
              <a:srgbClr val="000000">
                <a:alpha val="7000"/>
              </a:srgbClr>
            </a:outerShdw>
          </a:effectLst>
        </p:spPr>
      </p:sp>
      <p:sp>
        <p:nvSpPr>
          <p:cNvPr id="23" name="Text 20"/>
          <p:cNvSpPr/>
          <p:nvPr/>
        </p:nvSpPr>
        <p:spPr>
          <a:xfrm>
            <a:off x="6400800" y="4133088"/>
            <a:ext cx="5074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</a:t>
            </a:r>
            <a:endParaRPr lang="en-US" sz="1350" dirty="0"/>
          </a:p>
        </p:txBody>
      </p:sp>
      <p:sp>
        <p:nvSpPr>
          <p:cNvPr id="24" name="Text 21"/>
          <p:cNvSpPr/>
          <p:nvPr/>
        </p:nvSpPr>
        <p:spPr>
          <a:xfrm>
            <a:off x="6400800" y="4462272"/>
            <a:ext cx="5074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163A3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&lt;img&gt; &lt;marquee&gt; &lt;iframe&gt;</a:t>
            </a:r>
            <a:endParaRPr lang="en-US" sz="1150" dirty="0"/>
          </a:p>
        </p:txBody>
      </p:sp>
      <p:sp>
        <p:nvSpPr>
          <p:cNvPr id="25" name="Shape 22"/>
          <p:cNvSpPr/>
          <p:nvPr/>
        </p:nvSpPr>
        <p:spPr>
          <a:xfrm>
            <a:off x="548640" y="5376672"/>
            <a:ext cx="5440680" cy="1170432"/>
          </a:xfrm>
          <a:prstGeom prst="roundRect">
            <a:avLst>
              <a:gd name="adj" fmla="val 6250"/>
            </a:avLst>
          </a:prstGeom>
          <a:solidFill>
            <a:srgbClr val="EAF7F5"/>
          </a:solidFill>
          <a:ln/>
          <a:effectLst>
            <a:outerShdw blurRad="50800" dist="12700" dir="5400000" algn="bl" rotWithShape="0">
              <a:srgbClr val="000000">
                <a:alpha val="7000"/>
              </a:srgbClr>
            </a:outerShdw>
          </a:effectLst>
        </p:spPr>
      </p:sp>
      <p:sp>
        <p:nvSpPr>
          <p:cNvPr id="26" name="Text 23"/>
          <p:cNvSpPr/>
          <p:nvPr/>
        </p:nvSpPr>
        <p:spPr>
          <a:xfrm>
            <a:off x="731520" y="5468112"/>
            <a:ext cx="5074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Forms</a:t>
            </a:r>
            <a:endParaRPr lang="en-US" sz="1350" dirty="0"/>
          </a:p>
        </p:txBody>
      </p:sp>
      <p:sp>
        <p:nvSpPr>
          <p:cNvPr id="27" name="Text 24"/>
          <p:cNvSpPr/>
          <p:nvPr/>
        </p:nvSpPr>
        <p:spPr>
          <a:xfrm>
            <a:off x="731520" y="5797296"/>
            <a:ext cx="5074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163A3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&lt;form&gt; &lt;fieldset&gt; &lt;legend&gt; &lt;label&gt; &lt;input&gt; &lt;textarea&gt;</a:t>
            </a:r>
            <a:endParaRPr lang="en-US" sz="1150" dirty="0"/>
          </a:p>
        </p:txBody>
      </p:sp>
      <p:sp>
        <p:nvSpPr>
          <p:cNvPr id="28" name="Shape 25"/>
          <p:cNvSpPr/>
          <p:nvPr/>
        </p:nvSpPr>
        <p:spPr>
          <a:xfrm>
            <a:off x="6217920" y="5376672"/>
            <a:ext cx="5440680" cy="1170432"/>
          </a:xfrm>
          <a:prstGeom prst="roundRect">
            <a:avLst>
              <a:gd name="adj" fmla="val 6250"/>
            </a:avLst>
          </a:prstGeom>
          <a:solidFill>
            <a:srgbClr val="EAF7F5"/>
          </a:solidFill>
          <a:ln/>
          <a:effectLst>
            <a:outerShdw blurRad="50800" dist="12700" dir="5400000" algn="bl" rotWithShape="0">
              <a:srgbClr val="000000">
                <a:alpha val="7000"/>
              </a:srgbClr>
            </a:outerShdw>
          </a:effectLst>
        </p:spPr>
      </p:sp>
      <p:sp>
        <p:nvSpPr>
          <p:cNvPr id="29" name="Text 26"/>
          <p:cNvSpPr/>
          <p:nvPr/>
        </p:nvSpPr>
        <p:spPr>
          <a:xfrm>
            <a:off x="6400800" y="5468112"/>
            <a:ext cx="5074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Layout</a:t>
            </a:r>
            <a:endParaRPr lang="en-US" sz="1350" dirty="0"/>
          </a:p>
        </p:txBody>
      </p:sp>
      <p:sp>
        <p:nvSpPr>
          <p:cNvPr id="30" name="Text 27"/>
          <p:cNvSpPr/>
          <p:nvPr/>
        </p:nvSpPr>
        <p:spPr>
          <a:xfrm>
            <a:off x="6400800" y="5797296"/>
            <a:ext cx="5074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163A3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&lt;hr&gt; &lt;br&gt; &lt;center&gt;</a:t>
            </a:r>
            <a:endParaRPr lang="en-US" sz="1150" dirty="0"/>
          </a:p>
        </p:txBody>
      </p:sp>
      <p:sp>
        <p:nvSpPr>
          <p:cNvPr id="31" name="Text 28"/>
          <p:cNvSpPr/>
          <p:nvPr/>
        </p:nvSpPr>
        <p:spPr>
          <a:xfrm>
            <a:off x="11365992" y="635508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C7A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566928" cy="566928"/>
          </a:xfrm>
          <a:prstGeom prst="ellipse">
            <a:avLst/>
          </a:prstGeom>
          <a:solidFill>
            <a:srgbClr val="EAF7F5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" y="548640"/>
            <a:ext cx="310896" cy="31089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88720" y="36576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63A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 — Site-Wide</a:t>
            </a:r>
            <a:endParaRPr lang="en-US" sz="2800" dirty="0"/>
          </a:p>
        </p:txBody>
      </p:sp>
      <p:sp>
        <p:nvSpPr>
          <p:cNvPr id="5" name="Text 2"/>
          <p:cNvSpPr/>
          <p:nvPr/>
        </p:nvSpPr>
        <p:spPr>
          <a:xfrm>
            <a:off x="8531352" y="50292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50" dirty="0">
                <a:solidFill>
                  <a:srgbClr val="5C7A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 Portfolio Website  •  HTML Project</a:t>
            </a:r>
            <a:endParaRPr lang="en-US" sz="1050" dirty="0"/>
          </a:p>
        </p:txBody>
      </p:sp>
      <p:sp>
        <p:nvSpPr>
          <p:cNvPr id="6" name="Shape 3"/>
          <p:cNvSpPr/>
          <p:nvPr/>
        </p:nvSpPr>
        <p:spPr>
          <a:xfrm>
            <a:off x="457200" y="1143000"/>
            <a:ext cx="11274552" cy="0"/>
          </a:xfrm>
          <a:prstGeom prst="line">
            <a:avLst/>
          </a:prstGeom>
          <a:noFill/>
          <a:ln w="15875">
            <a:solidFill>
              <a:srgbClr val="CFEDE8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594360" y="1463040"/>
            <a:ext cx="420624" cy="420624"/>
          </a:xfrm>
          <a:prstGeom prst="ellipse">
            <a:avLst/>
          </a:prstGeom>
          <a:solidFill>
            <a:srgbClr val="EAF7F5"/>
          </a:solidFill>
          <a:ln/>
        </p:spPr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" y="1554480"/>
            <a:ext cx="237744" cy="237744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188720" y="1426464"/>
            <a:ext cx="10195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63A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Consistent 8-page navigation</a:t>
            </a:r>
            <a:endParaRPr lang="en-US" sz="1500" dirty="0"/>
          </a:p>
        </p:txBody>
      </p:sp>
      <p:sp>
        <p:nvSpPr>
          <p:cNvPr id="10" name="Text 6"/>
          <p:cNvSpPr/>
          <p:nvPr/>
        </p:nvSpPr>
        <p:spPr>
          <a:xfrm>
            <a:off x="1188720" y="1719072"/>
            <a:ext cx="10195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5C7A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Home, About, Education, Skills, Projects, Achievements, Gallery and Contact, linked from every page.</a:t>
            </a:r>
            <a:endParaRPr lang="en-US" sz="1250" dirty="0"/>
          </a:p>
        </p:txBody>
      </p:sp>
      <p:sp>
        <p:nvSpPr>
          <p:cNvPr id="11" name="Shape 7"/>
          <p:cNvSpPr/>
          <p:nvPr/>
        </p:nvSpPr>
        <p:spPr>
          <a:xfrm>
            <a:off x="594360" y="2542032"/>
            <a:ext cx="420624" cy="420624"/>
          </a:xfrm>
          <a:prstGeom prst="ellipse">
            <a:avLst/>
          </a:prstGeom>
          <a:solidFill>
            <a:srgbClr val="EAF7F5"/>
          </a:solidFill>
          <a:ln/>
        </p:spPr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5800" y="2633472"/>
            <a:ext cx="237744" cy="237744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188720" y="2505456"/>
            <a:ext cx="10195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63A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Anchor-linked “Page Bookmarks”</a:t>
            </a:r>
            <a:endParaRPr lang="en-US" sz="1500" dirty="0"/>
          </a:p>
        </p:txBody>
      </p:sp>
      <p:sp>
        <p:nvSpPr>
          <p:cNvPr id="14" name="Text 9"/>
          <p:cNvSpPr/>
          <p:nvPr/>
        </p:nvSpPr>
        <p:spPr>
          <a:xfrm>
            <a:off x="1188720" y="2798064"/>
            <a:ext cx="10195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5C7A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In-page jump links let visitors skip straight to a section using id-based anchors.</a:t>
            </a:r>
            <a:endParaRPr lang="en-US" sz="1250" dirty="0"/>
          </a:p>
        </p:txBody>
      </p:sp>
      <p:sp>
        <p:nvSpPr>
          <p:cNvPr id="15" name="Shape 10"/>
          <p:cNvSpPr/>
          <p:nvPr/>
        </p:nvSpPr>
        <p:spPr>
          <a:xfrm>
            <a:off x="594360" y="3621024"/>
            <a:ext cx="420624" cy="420624"/>
          </a:xfrm>
          <a:prstGeom prst="ellipse">
            <a:avLst/>
          </a:prstGeom>
          <a:solidFill>
            <a:srgbClr val="EAF7F5"/>
          </a:solidFill>
          <a:ln/>
        </p:spPr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85800" y="3712464"/>
            <a:ext cx="237744" cy="237744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1188720" y="3584448"/>
            <a:ext cx="10195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63A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Table-based skill meters</a:t>
            </a:r>
            <a:endParaRPr lang="en-US" sz="1500" dirty="0"/>
          </a:p>
        </p:txBody>
      </p:sp>
      <p:sp>
        <p:nvSpPr>
          <p:cNvPr id="18" name="Text 12"/>
          <p:cNvSpPr/>
          <p:nvPr/>
        </p:nvSpPr>
        <p:spPr>
          <a:xfrm>
            <a:off x="1188720" y="3877056"/>
            <a:ext cx="10195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5C7A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 progress bars for HTML, CSS, JavaScript and Python built using coloured table cells.</a:t>
            </a:r>
            <a:endParaRPr lang="en-US" sz="1250" dirty="0"/>
          </a:p>
        </p:txBody>
      </p:sp>
      <p:sp>
        <p:nvSpPr>
          <p:cNvPr id="19" name="Shape 13"/>
          <p:cNvSpPr/>
          <p:nvPr/>
        </p:nvSpPr>
        <p:spPr>
          <a:xfrm>
            <a:off x="594360" y="4700016"/>
            <a:ext cx="420624" cy="420624"/>
          </a:xfrm>
          <a:prstGeom prst="ellipse">
            <a:avLst/>
          </a:prstGeom>
          <a:solidFill>
            <a:srgbClr val="EAF7F5"/>
          </a:solidFill>
          <a:ln/>
        </p:spPr>
      </p:sp>
      <p:pic>
        <p:nvPicPr>
          <p:cNvPr id="20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85800" y="4791456"/>
            <a:ext cx="237744" cy="237744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1188720" y="4663440"/>
            <a:ext cx="10195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63A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 Info &amp; resume download</a:t>
            </a:r>
            <a:endParaRPr lang="en-US" sz="1500" dirty="0"/>
          </a:p>
        </p:txBody>
      </p:sp>
      <p:sp>
        <p:nvSpPr>
          <p:cNvPr id="22" name="Text 15"/>
          <p:cNvSpPr/>
          <p:nvPr/>
        </p:nvSpPr>
        <p:spPr>
          <a:xfrm>
            <a:off x="1188720" y="4956048"/>
            <a:ext cx="10195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5C7A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summary table of contact/role details plus a one-click link to download the resume.</a:t>
            </a:r>
            <a:endParaRPr lang="en-US" sz="1250" dirty="0"/>
          </a:p>
        </p:txBody>
      </p:sp>
      <p:sp>
        <p:nvSpPr>
          <p:cNvPr id="23" name="Text 16"/>
          <p:cNvSpPr/>
          <p:nvPr/>
        </p:nvSpPr>
        <p:spPr>
          <a:xfrm>
            <a:off x="11365992" y="635508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C7A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566928" cy="566928"/>
          </a:xfrm>
          <a:prstGeom prst="ellipse">
            <a:avLst/>
          </a:prstGeom>
          <a:solidFill>
            <a:srgbClr val="EAF7F5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" y="548640"/>
            <a:ext cx="310896" cy="31089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88720" y="36576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63A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 — Page Content</a:t>
            </a:r>
            <a:endParaRPr lang="en-US" sz="2800" dirty="0"/>
          </a:p>
        </p:txBody>
      </p:sp>
      <p:sp>
        <p:nvSpPr>
          <p:cNvPr id="5" name="Text 2"/>
          <p:cNvSpPr/>
          <p:nvPr/>
        </p:nvSpPr>
        <p:spPr>
          <a:xfrm>
            <a:off x="8531352" y="50292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50" dirty="0">
                <a:solidFill>
                  <a:srgbClr val="5C7A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 Portfolio Website  •  HTML Project</a:t>
            </a:r>
            <a:endParaRPr lang="en-US" sz="1050" dirty="0"/>
          </a:p>
        </p:txBody>
      </p:sp>
      <p:sp>
        <p:nvSpPr>
          <p:cNvPr id="6" name="Shape 3"/>
          <p:cNvSpPr/>
          <p:nvPr/>
        </p:nvSpPr>
        <p:spPr>
          <a:xfrm>
            <a:off x="457200" y="1143000"/>
            <a:ext cx="11274552" cy="0"/>
          </a:xfrm>
          <a:prstGeom prst="line">
            <a:avLst/>
          </a:prstGeom>
          <a:noFill/>
          <a:ln w="15875">
            <a:solidFill>
              <a:srgbClr val="CFEDE8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502920" y="1417320"/>
            <a:ext cx="3520440" cy="1783080"/>
          </a:xfrm>
          <a:prstGeom prst="roundRect">
            <a:avLst>
              <a:gd name="adj" fmla="val 4615"/>
            </a:avLst>
          </a:prstGeom>
          <a:solidFill>
            <a:srgbClr val="EAF7F5"/>
          </a:solidFill>
          <a:ln/>
          <a:effectLst>
            <a:outerShdw blurRad="50800" dist="12700" dir="5400000" algn="bl" rotWithShape="0">
              <a:srgbClr val="000000">
                <a:alpha val="7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704088" y="1600200"/>
            <a:ext cx="457200" cy="45720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3816" y="1709928"/>
            <a:ext cx="237744" cy="237744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704088" y="2130552"/>
            <a:ext cx="311810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63A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personal content</a:t>
            </a:r>
            <a:endParaRPr lang="en-US" sz="1250" dirty="0"/>
          </a:p>
        </p:txBody>
      </p:sp>
      <p:sp>
        <p:nvSpPr>
          <p:cNvPr id="11" name="Text 7"/>
          <p:cNvSpPr/>
          <p:nvPr/>
        </p:nvSpPr>
        <p:spPr>
          <a:xfrm>
            <a:off x="704088" y="2496312"/>
            <a:ext cx="311810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5C7A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Family details via definition lists; hobbies and daily routine via bulleted and numbered lists.</a:t>
            </a:r>
            <a:endParaRPr lang="en-US" sz="1050" dirty="0"/>
          </a:p>
        </p:txBody>
      </p:sp>
      <p:sp>
        <p:nvSpPr>
          <p:cNvPr id="12" name="Shape 8"/>
          <p:cNvSpPr/>
          <p:nvPr/>
        </p:nvSpPr>
        <p:spPr>
          <a:xfrm>
            <a:off x="4206240" y="1417320"/>
            <a:ext cx="3520440" cy="1783080"/>
          </a:xfrm>
          <a:prstGeom prst="roundRect">
            <a:avLst>
              <a:gd name="adj" fmla="val 4615"/>
            </a:avLst>
          </a:prstGeom>
          <a:solidFill>
            <a:srgbClr val="EAF7F5"/>
          </a:solidFill>
          <a:ln/>
          <a:effectLst>
            <a:outerShdw blurRad="50800" dist="12700" dir="5400000" algn="bl" rotWithShape="0">
              <a:srgbClr val="000000">
                <a:alpha val="7000"/>
              </a:srgbClr>
            </a:outerShdw>
          </a:effectLst>
        </p:spPr>
      </p:sp>
      <p:sp>
        <p:nvSpPr>
          <p:cNvPr id="13" name="Shape 9"/>
          <p:cNvSpPr/>
          <p:nvPr/>
        </p:nvSpPr>
        <p:spPr>
          <a:xfrm>
            <a:off x="4407408" y="1600200"/>
            <a:ext cx="457200" cy="45720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17136" y="1709928"/>
            <a:ext cx="237744" cy="237744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4407408" y="2130552"/>
            <a:ext cx="311810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63A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Categorised tech stack</a:t>
            </a:r>
            <a:endParaRPr lang="en-US" sz="1250" dirty="0"/>
          </a:p>
        </p:txBody>
      </p:sp>
      <p:sp>
        <p:nvSpPr>
          <p:cNvPr id="16" name="Text 11"/>
          <p:cNvSpPr/>
          <p:nvPr/>
        </p:nvSpPr>
        <p:spPr>
          <a:xfrm>
            <a:off x="4407408" y="2496312"/>
            <a:ext cx="311810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5C7A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Nested lists group skills under Frontend, Backend, Database and Tools.</a:t>
            </a:r>
            <a:endParaRPr lang="en-US" sz="1050" dirty="0"/>
          </a:p>
        </p:txBody>
      </p:sp>
      <p:sp>
        <p:nvSpPr>
          <p:cNvPr id="17" name="Shape 12"/>
          <p:cNvSpPr/>
          <p:nvPr/>
        </p:nvSpPr>
        <p:spPr>
          <a:xfrm>
            <a:off x="7909560" y="1417320"/>
            <a:ext cx="3520440" cy="1783080"/>
          </a:xfrm>
          <a:prstGeom prst="roundRect">
            <a:avLst>
              <a:gd name="adj" fmla="val 4615"/>
            </a:avLst>
          </a:prstGeom>
          <a:solidFill>
            <a:srgbClr val="EAF7F5"/>
          </a:solidFill>
          <a:ln/>
          <a:effectLst>
            <a:outerShdw blurRad="50800" dist="12700" dir="5400000" algn="bl" rotWithShape="0">
              <a:srgbClr val="000000">
                <a:alpha val="7000"/>
              </a:srgbClr>
            </a:outerShdw>
          </a:effectLst>
        </p:spPr>
      </p:sp>
      <p:sp>
        <p:nvSpPr>
          <p:cNvPr id="18" name="Shape 13"/>
          <p:cNvSpPr/>
          <p:nvPr/>
        </p:nvSpPr>
        <p:spPr>
          <a:xfrm>
            <a:off x="8110728" y="1600200"/>
            <a:ext cx="457200" cy="45720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9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20456" y="1709928"/>
            <a:ext cx="237744" cy="237744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8110728" y="2130552"/>
            <a:ext cx="311810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63A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showcase cards</a:t>
            </a:r>
            <a:endParaRPr lang="en-US" sz="1250" dirty="0"/>
          </a:p>
        </p:txBody>
      </p:sp>
      <p:sp>
        <p:nvSpPr>
          <p:cNvPr id="21" name="Text 15"/>
          <p:cNvSpPr/>
          <p:nvPr/>
        </p:nvSpPr>
        <p:spPr>
          <a:xfrm>
            <a:off x="8110728" y="2496312"/>
            <a:ext cx="311810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5C7A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project lists details, features, tech used, challenges, and GitHub / live demo links.</a:t>
            </a:r>
            <a:endParaRPr lang="en-US" sz="1050" dirty="0"/>
          </a:p>
        </p:txBody>
      </p:sp>
      <p:sp>
        <p:nvSpPr>
          <p:cNvPr id="22" name="Shape 16"/>
          <p:cNvSpPr/>
          <p:nvPr/>
        </p:nvSpPr>
        <p:spPr>
          <a:xfrm>
            <a:off x="502920" y="3383280"/>
            <a:ext cx="3520440" cy="1783080"/>
          </a:xfrm>
          <a:prstGeom prst="roundRect">
            <a:avLst>
              <a:gd name="adj" fmla="val 4615"/>
            </a:avLst>
          </a:prstGeom>
          <a:solidFill>
            <a:srgbClr val="EAF7F5"/>
          </a:solidFill>
          <a:ln/>
          <a:effectLst>
            <a:outerShdw blurRad="50800" dist="12700" dir="5400000" algn="bl" rotWithShape="0">
              <a:srgbClr val="000000">
                <a:alpha val="7000"/>
              </a:srgbClr>
            </a:outerShdw>
          </a:effectLst>
        </p:spPr>
      </p:sp>
      <p:sp>
        <p:nvSpPr>
          <p:cNvPr id="23" name="Shape 17"/>
          <p:cNvSpPr/>
          <p:nvPr/>
        </p:nvSpPr>
        <p:spPr>
          <a:xfrm>
            <a:off x="704088" y="3566160"/>
            <a:ext cx="457200" cy="45720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24" name="Image 4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13816" y="3675888"/>
            <a:ext cx="237744" cy="237744"/>
          </a:xfrm>
          <a:prstGeom prst="rect">
            <a:avLst/>
          </a:prstGeom>
        </p:spPr>
      </p:pic>
      <p:sp>
        <p:nvSpPr>
          <p:cNvPr id="25" name="Text 18"/>
          <p:cNvSpPr/>
          <p:nvPr/>
        </p:nvSpPr>
        <p:spPr>
          <a:xfrm>
            <a:off x="704088" y="4096512"/>
            <a:ext cx="311810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63A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 project gallery</a:t>
            </a:r>
            <a:endParaRPr lang="en-US" sz="1250" dirty="0"/>
          </a:p>
        </p:txBody>
      </p:sp>
      <p:sp>
        <p:nvSpPr>
          <p:cNvPr id="26" name="Text 19"/>
          <p:cNvSpPr/>
          <p:nvPr/>
        </p:nvSpPr>
        <p:spPr>
          <a:xfrm>
            <a:off x="704088" y="4462272"/>
            <a:ext cx="311810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5C7A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dedicated gallery page displaying screenshots from past project work.</a:t>
            </a:r>
            <a:endParaRPr lang="en-US" sz="1050" dirty="0"/>
          </a:p>
        </p:txBody>
      </p:sp>
      <p:sp>
        <p:nvSpPr>
          <p:cNvPr id="27" name="Shape 20"/>
          <p:cNvSpPr/>
          <p:nvPr/>
        </p:nvSpPr>
        <p:spPr>
          <a:xfrm>
            <a:off x="4206240" y="3383280"/>
            <a:ext cx="3520440" cy="1783080"/>
          </a:xfrm>
          <a:prstGeom prst="roundRect">
            <a:avLst>
              <a:gd name="adj" fmla="val 4615"/>
            </a:avLst>
          </a:prstGeom>
          <a:solidFill>
            <a:srgbClr val="EAF7F5"/>
          </a:solidFill>
          <a:ln/>
          <a:effectLst>
            <a:outerShdw blurRad="50800" dist="12700" dir="5400000" algn="bl" rotWithShape="0">
              <a:srgbClr val="000000">
                <a:alpha val="7000"/>
              </a:srgbClr>
            </a:outerShdw>
          </a:effectLst>
        </p:spPr>
      </p:sp>
      <p:sp>
        <p:nvSpPr>
          <p:cNvPr id="28" name="Shape 21"/>
          <p:cNvSpPr/>
          <p:nvPr/>
        </p:nvSpPr>
        <p:spPr>
          <a:xfrm>
            <a:off x="4407408" y="3566160"/>
            <a:ext cx="457200" cy="45720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29" name="Image 5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517136" y="3675888"/>
            <a:ext cx="237744" cy="237744"/>
          </a:xfrm>
          <a:prstGeom prst="rect">
            <a:avLst/>
          </a:prstGeom>
        </p:spPr>
      </p:pic>
      <p:sp>
        <p:nvSpPr>
          <p:cNvPr id="30" name="Text 22"/>
          <p:cNvSpPr/>
          <p:nvPr/>
        </p:nvSpPr>
        <p:spPr>
          <a:xfrm>
            <a:off x="4407408" y="4096512"/>
            <a:ext cx="311810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63A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Contact form with validation</a:t>
            </a:r>
            <a:endParaRPr lang="en-US" sz="1250" dirty="0"/>
          </a:p>
        </p:txBody>
      </p:sp>
      <p:sp>
        <p:nvSpPr>
          <p:cNvPr id="31" name="Text 23"/>
          <p:cNvSpPr/>
          <p:nvPr/>
        </p:nvSpPr>
        <p:spPr>
          <a:xfrm>
            <a:off x="4407408" y="4462272"/>
            <a:ext cx="311810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5C7A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Name, email and message fields use required HTML5 attributes for basic validation.</a:t>
            </a:r>
            <a:endParaRPr lang="en-US" sz="1050" dirty="0"/>
          </a:p>
        </p:txBody>
      </p:sp>
      <p:sp>
        <p:nvSpPr>
          <p:cNvPr id="32" name="Shape 24"/>
          <p:cNvSpPr/>
          <p:nvPr/>
        </p:nvSpPr>
        <p:spPr>
          <a:xfrm>
            <a:off x="7909560" y="3383280"/>
            <a:ext cx="3520440" cy="1783080"/>
          </a:xfrm>
          <a:prstGeom prst="roundRect">
            <a:avLst>
              <a:gd name="adj" fmla="val 4615"/>
            </a:avLst>
          </a:prstGeom>
          <a:solidFill>
            <a:srgbClr val="EAF7F5"/>
          </a:solidFill>
          <a:ln/>
          <a:effectLst>
            <a:outerShdw blurRad="50800" dist="12700" dir="5400000" algn="bl" rotWithShape="0">
              <a:srgbClr val="000000">
                <a:alpha val="7000"/>
              </a:srgbClr>
            </a:outerShdw>
          </a:effectLst>
        </p:spPr>
      </p:sp>
      <p:sp>
        <p:nvSpPr>
          <p:cNvPr id="33" name="Shape 25"/>
          <p:cNvSpPr/>
          <p:nvPr/>
        </p:nvSpPr>
        <p:spPr>
          <a:xfrm>
            <a:off x="8110728" y="3566160"/>
            <a:ext cx="457200" cy="45720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34" name="Image 6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220456" y="3675888"/>
            <a:ext cx="237744" cy="237744"/>
          </a:xfrm>
          <a:prstGeom prst="rect">
            <a:avLst/>
          </a:prstGeom>
        </p:spPr>
      </p:pic>
      <p:sp>
        <p:nvSpPr>
          <p:cNvPr id="35" name="Text 26"/>
          <p:cNvSpPr/>
          <p:nvPr/>
        </p:nvSpPr>
        <p:spPr>
          <a:xfrm>
            <a:off x="8110728" y="4096512"/>
            <a:ext cx="311810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63A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Embedded Google Map</a:t>
            </a:r>
            <a:endParaRPr lang="en-US" sz="1250" dirty="0"/>
          </a:p>
        </p:txBody>
      </p:sp>
      <p:sp>
        <p:nvSpPr>
          <p:cNvPr id="36" name="Text 27"/>
          <p:cNvSpPr/>
          <p:nvPr/>
        </p:nvSpPr>
        <p:spPr>
          <a:xfrm>
            <a:off x="8110728" y="4462272"/>
            <a:ext cx="311810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5C7A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iframe embeds a live map pinpointing the contact location.</a:t>
            </a:r>
            <a:endParaRPr lang="en-US" sz="1050" dirty="0"/>
          </a:p>
        </p:txBody>
      </p:sp>
      <p:sp>
        <p:nvSpPr>
          <p:cNvPr id="37" name="Text 28"/>
          <p:cNvSpPr/>
          <p:nvPr/>
        </p:nvSpPr>
        <p:spPr>
          <a:xfrm>
            <a:off x="11365992" y="635508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C7A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566928" cy="566928"/>
          </a:xfrm>
          <a:prstGeom prst="ellipse">
            <a:avLst/>
          </a:prstGeom>
          <a:solidFill>
            <a:srgbClr val="EAF7F5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" y="548640"/>
            <a:ext cx="310896" cy="31089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88720" y="36576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63A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Challenges Faced</a:t>
            </a:r>
            <a:endParaRPr lang="en-US" sz="2800" dirty="0"/>
          </a:p>
        </p:txBody>
      </p:sp>
      <p:sp>
        <p:nvSpPr>
          <p:cNvPr id="5" name="Text 2"/>
          <p:cNvSpPr/>
          <p:nvPr/>
        </p:nvSpPr>
        <p:spPr>
          <a:xfrm>
            <a:off x="8531352" y="50292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50" dirty="0">
                <a:solidFill>
                  <a:srgbClr val="5C7A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 Portfolio Website  •  HTML Project</a:t>
            </a:r>
            <a:endParaRPr lang="en-US" sz="1050" dirty="0"/>
          </a:p>
        </p:txBody>
      </p:sp>
      <p:sp>
        <p:nvSpPr>
          <p:cNvPr id="6" name="Shape 3"/>
          <p:cNvSpPr/>
          <p:nvPr/>
        </p:nvSpPr>
        <p:spPr>
          <a:xfrm>
            <a:off x="457200" y="1143000"/>
            <a:ext cx="11274552" cy="0"/>
          </a:xfrm>
          <a:prstGeom prst="line">
            <a:avLst/>
          </a:prstGeom>
          <a:noFill/>
          <a:ln w="15875">
            <a:solidFill>
              <a:srgbClr val="CFEDE8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548640" y="1417320"/>
            <a:ext cx="5440680" cy="1417320"/>
          </a:xfrm>
          <a:prstGeom prst="roundRect">
            <a:avLst>
              <a:gd name="adj" fmla="val 5806"/>
            </a:avLst>
          </a:prstGeom>
          <a:solidFill>
            <a:srgbClr val="EAF7F5"/>
          </a:solidFill>
          <a:ln/>
        </p:spPr>
      </p:sp>
      <p:sp>
        <p:nvSpPr>
          <p:cNvPr id="8" name="Shape 5"/>
          <p:cNvSpPr/>
          <p:nvPr/>
        </p:nvSpPr>
        <p:spPr>
          <a:xfrm>
            <a:off x="731520" y="1600200"/>
            <a:ext cx="384048" cy="384048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9" name="Text 6"/>
          <p:cNvSpPr/>
          <p:nvPr/>
        </p:nvSpPr>
        <p:spPr>
          <a:xfrm>
            <a:off x="731520" y="160020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1261872" y="1536192"/>
            <a:ext cx="4526280" cy="11795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163A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Repeating the same navigation bar consistently across 8 separate pages with no shared template or include system.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6217920" y="1417320"/>
            <a:ext cx="5440680" cy="1417320"/>
          </a:xfrm>
          <a:prstGeom prst="roundRect">
            <a:avLst>
              <a:gd name="adj" fmla="val 5806"/>
            </a:avLst>
          </a:prstGeom>
          <a:solidFill>
            <a:srgbClr val="EAF7F5"/>
          </a:solidFill>
          <a:ln/>
        </p:spPr>
      </p:sp>
      <p:sp>
        <p:nvSpPr>
          <p:cNvPr id="12" name="Shape 9"/>
          <p:cNvSpPr/>
          <p:nvPr/>
        </p:nvSpPr>
        <p:spPr>
          <a:xfrm>
            <a:off x="6400800" y="1600200"/>
            <a:ext cx="384048" cy="384048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3" name="Text 10"/>
          <p:cNvSpPr/>
          <p:nvPr/>
        </p:nvSpPr>
        <p:spPr>
          <a:xfrm>
            <a:off x="6400800" y="160020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6931152" y="1536192"/>
            <a:ext cx="4526280" cy="11795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163A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Building visual progress-bar meters using nested table cell widths instead of CSS, requiring precise percentage values.</a:t>
            </a:r>
            <a:endParaRPr lang="en-US" sz="1150" dirty="0"/>
          </a:p>
        </p:txBody>
      </p:sp>
      <p:sp>
        <p:nvSpPr>
          <p:cNvPr id="15" name="Shape 12"/>
          <p:cNvSpPr/>
          <p:nvPr/>
        </p:nvSpPr>
        <p:spPr>
          <a:xfrm>
            <a:off x="548640" y="3017520"/>
            <a:ext cx="5440680" cy="1417320"/>
          </a:xfrm>
          <a:prstGeom prst="roundRect">
            <a:avLst>
              <a:gd name="adj" fmla="val 5806"/>
            </a:avLst>
          </a:prstGeom>
          <a:solidFill>
            <a:srgbClr val="EAF7F5"/>
          </a:solidFill>
          <a:ln/>
        </p:spPr>
      </p:sp>
      <p:sp>
        <p:nvSpPr>
          <p:cNvPr id="16" name="Shape 13"/>
          <p:cNvSpPr/>
          <p:nvPr/>
        </p:nvSpPr>
        <p:spPr>
          <a:xfrm>
            <a:off x="731520" y="3200400"/>
            <a:ext cx="384048" cy="384048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7" name="Text 14"/>
          <p:cNvSpPr/>
          <p:nvPr/>
        </p:nvSpPr>
        <p:spPr>
          <a:xfrm>
            <a:off x="731520" y="320040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8" name="Text 15"/>
          <p:cNvSpPr/>
          <p:nvPr/>
        </p:nvSpPr>
        <p:spPr>
          <a:xfrm>
            <a:off x="1261872" y="3136392"/>
            <a:ext cx="4526280" cy="11795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163A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Keeping multi-column tables — Quick Info, certifications, academic records — aligned and easy to read.</a:t>
            </a:r>
            <a:endParaRPr lang="en-US" sz="1150" dirty="0"/>
          </a:p>
        </p:txBody>
      </p:sp>
      <p:sp>
        <p:nvSpPr>
          <p:cNvPr id="19" name="Shape 16"/>
          <p:cNvSpPr/>
          <p:nvPr/>
        </p:nvSpPr>
        <p:spPr>
          <a:xfrm>
            <a:off x="6217920" y="3017520"/>
            <a:ext cx="5440680" cy="1417320"/>
          </a:xfrm>
          <a:prstGeom prst="roundRect">
            <a:avLst>
              <a:gd name="adj" fmla="val 5806"/>
            </a:avLst>
          </a:prstGeom>
          <a:solidFill>
            <a:srgbClr val="EAF7F5"/>
          </a:solidFill>
          <a:ln/>
        </p:spPr>
      </p:sp>
      <p:sp>
        <p:nvSpPr>
          <p:cNvPr id="20" name="Shape 17"/>
          <p:cNvSpPr/>
          <p:nvPr/>
        </p:nvSpPr>
        <p:spPr>
          <a:xfrm>
            <a:off x="6400800" y="3200400"/>
            <a:ext cx="384048" cy="384048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21" name="Text 18"/>
          <p:cNvSpPr/>
          <p:nvPr/>
        </p:nvSpPr>
        <p:spPr>
          <a:xfrm>
            <a:off x="6400800" y="320040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2" name="Text 19"/>
          <p:cNvSpPr/>
          <p:nvPr/>
        </p:nvSpPr>
        <p:spPr>
          <a:xfrm>
            <a:off x="6931152" y="3136392"/>
            <a:ext cx="4526280" cy="11795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163A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Displaying images of different sizes and aspect ratios consistently across every page.</a:t>
            </a:r>
            <a:endParaRPr lang="en-US" sz="1150" dirty="0"/>
          </a:p>
        </p:txBody>
      </p:sp>
      <p:sp>
        <p:nvSpPr>
          <p:cNvPr id="23" name="Shape 20"/>
          <p:cNvSpPr/>
          <p:nvPr/>
        </p:nvSpPr>
        <p:spPr>
          <a:xfrm>
            <a:off x="548640" y="4617720"/>
            <a:ext cx="5440680" cy="1417320"/>
          </a:xfrm>
          <a:prstGeom prst="roundRect">
            <a:avLst>
              <a:gd name="adj" fmla="val 5806"/>
            </a:avLst>
          </a:prstGeom>
          <a:solidFill>
            <a:srgbClr val="EAF7F5"/>
          </a:solidFill>
          <a:ln/>
        </p:spPr>
      </p:sp>
      <p:sp>
        <p:nvSpPr>
          <p:cNvPr id="24" name="Shape 21"/>
          <p:cNvSpPr/>
          <p:nvPr/>
        </p:nvSpPr>
        <p:spPr>
          <a:xfrm>
            <a:off x="731520" y="4800600"/>
            <a:ext cx="384048" cy="384048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25" name="Text 22"/>
          <p:cNvSpPr/>
          <p:nvPr/>
        </p:nvSpPr>
        <p:spPr>
          <a:xfrm>
            <a:off x="731520" y="480060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26" name="Text 23"/>
          <p:cNvSpPr/>
          <p:nvPr/>
        </p:nvSpPr>
        <p:spPr>
          <a:xfrm>
            <a:off x="1261872" y="4736592"/>
            <a:ext cx="4526280" cy="11795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163A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Structuring long personal content (family, hobbies, routine) clearly using only semantic HTML, with no stylesheet.</a:t>
            </a:r>
            <a:endParaRPr lang="en-US" sz="1150" dirty="0"/>
          </a:p>
        </p:txBody>
      </p:sp>
      <p:sp>
        <p:nvSpPr>
          <p:cNvPr id="27" name="Shape 24"/>
          <p:cNvSpPr/>
          <p:nvPr/>
        </p:nvSpPr>
        <p:spPr>
          <a:xfrm>
            <a:off x="6217920" y="4617720"/>
            <a:ext cx="5440680" cy="1417320"/>
          </a:xfrm>
          <a:prstGeom prst="roundRect">
            <a:avLst>
              <a:gd name="adj" fmla="val 5806"/>
            </a:avLst>
          </a:prstGeom>
          <a:solidFill>
            <a:srgbClr val="EAF7F5"/>
          </a:solidFill>
          <a:ln/>
        </p:spPr>
      </p:sp>
      <p:sp>
        <p:nvSpPr>
          <p:cNvPr id="28" name="Shape 25"/>
          <p:cNvSpPr/>
          <p:nvPr/>
        </p:nvSpPr>
        <p:spPr>
          <a:xfrm>
            <a:off x="6400800" y="4800600"/>
            <a:ext cx="384048" cy="384048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29" name="Text 26"/>
          <p:cNvSpPr/>
          <p:nvPr/>
        </p:nvSpPr>
        <p:spPr>
          <a:xfrm>
            <a:off x="6400800" y="480060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400" dirty="0"/>
          </a:p>
        </p:txBody>
      </p:sp>
      <p:sp>
        <p:nvSpPr>
          <p:cNvPr id="30" name="Text 27"/>
          <p:cNvSpPr/>
          <p:nvPr/>
        </p:nvSpPr>
        <p:spPr>
          <a:xfrm>
            <a:off x="6931152" y="4736592"/>
            <a:ext cx="4526280" cy="11795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163A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Adding basic client-side form validation (required, type="email") without relying on JavaScript.</a:t>
            </a:r>
            <a:endParaRPr lang="en-US" sz="1150" dirty="0"/>
          </a:p>
        </p:txBody>
      </p:sp>
      <p:sp>
        <p:nvSpPr>
          <p:cNvPr id="31" name="Text 28"/>
          <p:cNvSpPr/>
          <p:nvPr/>
        </p:nvSpPr>
        <p:spPr>
          <a:xfrm>
            <a:off x="11365992" y="635508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C7A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566928" cy="566928"/>
          </a:xfrm>
          <a:prstGeom prst="ellipse">
            <a:avLst/>
          </a:prstGeom>
          <a:solidFill>
            <a:srgbClr val="EAF7F5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" y="548640"/>
            <a:ext cx="310896" cy="31089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88720" y="36576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63A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Learnings</a:t>
            </a:r>
            <a:endParaRPr lang="en-US" sz="2800" dirty="0"/>
          </a:p>
        </p:txBody>
      </p:sp>
      <p:sp>
        <p:nvSpPr>
          <p:cNvPr id="5" name="Text 2"/>
          <p:cNvSpPr/>
          <p:nvPr/>
        </p:nvSpPr>
        <p:spPr>
          <a:xfrm>
            <a:off x="8531352" y="50292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50" dirty="0">
                <a:solidFill>
                  <a:srgbClr val="5C7A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 Portfolio Website  •  HTML Project</a:t>
            </a:r>
            <a:endParaRPr lang="en-US" sz="1050" dirty="0"/>
          </a:p>
        </p:txBody>
      </p:sp>
      <p:sp>
        <p:nvSpPr>
          <p:cNvPr id="6" name="Shape 3"/>
          <p:cNvSpPr/>
          <p:nvPr/>
        </p:nvSpPr>
        <p:spPr>
          <a:xfrm>
            <a:off x="457200" y="1143000"/>
            <a:ext cx="11274552" cy="0"/>
          </a:xfrm>
          <a:prstGeom prst="line">
            <a:avLst/>
          </a:prstGeom>
          <a:noFill/>
          <a:ln w="15875">
            <a:solidFill>
              <a:srgbClr val="CFEDE8"/>
            </a:solidFill>
            <a:prstDash val="solid"/>
          </a:ln>
        </p:spPr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4360" y="1435608"/>
            <a:ext cx="274320" cy="27432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051560" y="1353312"/>
            <a:ext cx="10332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63A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Gained hands-on command of core and semantic HTML tags well beyond the basics.</a:t>
            </a:r>
            <a:endParaRPr lang="en-US" sz="140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4360" y="2057400"/>
            <a:ext cx="274320" cy="274320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1051560" y="1975104"/>
            <a:ext cx="10332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63A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Practical experience using tables for both structured data and simple visual elements like progress bars.</a:t>
            </a:r>
            <a:endParaRPr lang="en-US" sz="1400" dirty="0"/>
          </a:p>
        </p:txBody>
      </p:sp>
      <p:pic>
        <p:nvPicPr>
          <p:cNvPr id="11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4360" y="2679192"/>
            <a:ext cx="274320" cy="274320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1051560" y="2596896"/>
            <a:ext cx="10332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63A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Understood why consistent navigation and site structure matter for usability.</a:t>
            </a:r>
            <a:endParaRPr lang="en-US" sz="1400" dirty="0"/>
          </a:p>
        </p:txBody>
      </p:sp>
      <p:pic>
        <p:nvPicPr>
          <p:cNvPr id="13" name="Image 4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4360" y="3300984"/>
            <a:ext cx="274320" cy="274320"/>
          </a:xfrm>
          <a:prstGeom prst="rect">
            <a:avLst/>
          </a:prstGeom>
        </p:spPr>
      </p:pic>
      <p:sp>
        <p:nvSpPr>
          <p:cNvPr id="14" name="Text 7"/>
          <p:cNvSpPr/>
          <p:nvPr/>
        </p:nvSpPr>
        <p:spPr>
          <a:xfrm>
            <a:off x="1051560" y="3218688"/>
            <a:ext cx="10332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63A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Worked with HTML forms and embedding external content through iframes.</a:t>
            </a:r>
            <a:endParaRPr lang="en-US" sz="1400" dirty="0"/>
          </a:p>
        </p:txBody>
      </p:sp>
      <p:pic>
        <p:nvPicPr>
          <p:cNvPr id="15" name="Image 5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4360" y="3922776"/>
            <a:ext cx="274320" cy="274320"/>
          </a:xfrm>
          <a:prstGeom prst="rect">
            <a:avLst/>
          </a:prstGeom>
        </p:spPr>
      </p:pic>
      <p:sp>
        <p:nvSpPr>
          <p:cNvPr id="16" name="Text 8"/>
          <p:cNvSpPr/>
          <p:nvPr/>
        </p:nvSpPr>
        <p:spPr>
          <a:xfrm>
            <a:off x="1051560" y="3840480"/>
            <a:ext cx="10332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63A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Recognised the limits of inline, presentational styling (bgcolor, align, font) — clear motivation to learn CSS next.</a:t>
            </a:r>
            <a:endParaRPr lang="en-US" sz="1400" dirty="0"/>
          </a:p>
        </p:txBody>
      </p:sp>
      <p:pic>
        <p:nvPicPr>
          <p:cNvPr id="17" name="Image 6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4360" y="4544568"/>
            <a:ext cx="274320" cy="274320"/>
          </a:xfrm>
          <a:prstGeom prst="rect">
            <a:avLst/>
          </a:prstGeom>
        </p:spPr>
      </p:pic>
      <p:sp>
        <p:nvSpPr>
          <p:cNvPr id="18" name="Text 9"/>
          <p:cNvSpPr/>
          <p:nvPr/>
        </p:nvSpPr>
        <p:spPr>
          <a:xfrm>
            <a:off x="1051560" y="4462272"/>
            <a:ext cx="10332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63A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Developed a better awareness of accessibility basics, such as meaningful alt text on images.</a:t>
            </a:r>
            <a:endParaRPr lang="en-US" sz="1400" dirty="0"/>
          </a:p>
        </p:txBody>
      </p:sp>
      <p:sp>
        <p:nvSpPr>
          <p:cNvPr id="19" name="Text 10"/>
          <p:cNvSpPr/>
          <p:nvPr/>
        </p:nvSpPr>
        <p:spPr>
          <a:xfrm>
            <a:off x="11365992" y="635508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C7A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566928" cy="566928"/>
          </a:xfrm>
          <a:prstGeom prst="ellipse">
            <a:avLst/>
          </a:prstGeom>
          <a:solidFill>
            <a:srgbClr val="EAF7F5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" y="548640"/>
            <a:ext cx="310896" cy="31089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88720" y="36576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63A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Screenshots — Home, About, Skills</a:t>
            </a:r>
            <a:endParaRPr lang="en-US" sz="2800" dirty="0"/>
          </a:p>
        </p:txBody>
      </p:sp>
      <p:sp>
        <p:nvSpPr>
          <p:cNvPr id="5" name="Text 2"/>
          <p:cNvSpPr/>
          <p:nvPr/>
        </p:nvSpPr>
        <p:spPr>
          <a:xfrm>
            <a:off x="8531352" y="50292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50" dirty="0">
                <a:solidFill>
                  <a:srgbClr val="5C7A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 Portfolio Website  •  HTML Project</a:t>
            </a:r>
            <a:endParaRPr lang="en-US" sz="1050" dirty="0"/>
          </a:p>
        </p:txBody>
      </p:sp>
      <p:sp>
        <p:nvSpPr>
          <p:cNvPr id="6" name="Shape 3"/>
          <p:cNvSpPr/>
          <p:nvPr/>
        </p:nvSpPr>
        <p:spPr>
          <a:xfrm>
            <a:off x="457200" y="1143000"/>
            <a:ext cx="11274552" cy="0"/>
          </a:xfrm>
          <a:prstGeom prst="line">
            <a:avLst/>
          </a:prstGeom>
          <a:noFill/>
          <a:ln w="15875">
            <a:solidFill>
              <a:srgbClr val="CFEDE8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585216" y="1554480"/>
            <a:ext cx="3520440" cy="3538728"/>
          </a:xfrm>
          <a:prstGeom prst="roundRect">
            <a:avLst>
              <a:gd name="adj" fmla="val 1558"/>
            </a:avLst>
          </a:prstGeom>
          <a:solidFill>
            <a:srgbClr val="FFFFFF"/>
          </a:solidFill>
          <a:ln w="12700">
            <a:solidFill>
              <a:srgbClr val="CFEDE8"/>
            </a:solidFill>
            <a:prstDash val="solid"/>
          </a:ln>
          <a:effectLst>
            <a:outerShdw blurRad="635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722376" y="1655064"/>
            <a:ext cx="91440" cy="91440"/>
          </a:xfrm>
          <a:prstGeom prst="ellipse">
            <a:avLst/>
          </a:prstGeom>
          <a:solidFill>
            <a:srgbClr val="E25555"/>
          </a:solidFill>
          <a:ln/>
        </p:spPr>
      </p:sp>
      <p:sp>
        <p:nvSpPr>
          <p:cNvPr id="9" name="Shape 6"/>
          <p:cNvSpPr/>
          <p:nvPr/>
        </p:nvSpPr>
        <p:spPr>
          <a:xfrm>
            <a:off x="905256" y="1655064"/>
            <a:ext cx="91440" cy="91440"/>
          </a:xfrm>
          <a:prstGeom prst="ellipse">
            <a:avLst/>
          </a:prstGeom>
          <a:solidFill>
            <a:srgbClr val="E2B14D"/>
          </a:solidFill>
          <a:ln/>
        </p:spPr>
      </p:sp>
      <p:sp>
        <p:nvSpPr>
          <p:cNvPr id="10" name="Shape 7"/>
          <p:cNvSpPr/>
          <p:nvPr/>
        </p:nvSpPr>
        <p:spPr>
          <a:xfrm>
            <a:off x="1088136" y="1655064"/>
            <a:ext cx="91440" cy="91440"/>
          </a:xfrm>
          <a:prstGeom prst="ellipse">
            <a:avLst/>
          </a:prstGeom>
          <a:solidFill>
            <a:srgbClr val="39B36B"/>
          </a:solidFill>
          <a:ln/>
        </p:spPr>
      </p:sp>
      <p:pic>
        <p:nvPicPr>
          <p:cNvPr id="11" name="Image 1" descr="/home/claude/project/thumbs/index_thumb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640080" y="1847088"/>
            <a:ext cx="3410712" cy="3191256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85216" y="5129784"/>
            <a:ext cx="3520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63A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 Page</a:t>
            </a:r>
            <a:endParaRPr lang="en-US" sz="1200" dirty="0"/>
          </a:p>
        </p:txBody>
      </p:sp>
      <p:sp>
        <p:nvSpPr>
          <p:cNvPr id="13" name="Shape 9"/>
          <p:cNvSpPr/>
          <p:nvPr/>
        </p:nvSpPr>
        <p:spPr>
          <a:xfrm>
            <a:off x="4334256" y="1554480"/>
            <a:ext cx="3520440" cy="3538728"/>
          </a:xfrm>
          <a:prstGeom prst="roundRect">
            <a:avLst>
              <a:gd name="adj" fmla="val 1558"/>
            </a:avLst>
          </a:prstGeom>
          <a:solidFill>
            <a:srgbClr val="FFFFFF"/>
          </a:solidFill>
          <a:ln w="12700">
            <a:solidFill>
              <a:srgbClr val="CFEDE8"/>
            </a:solidFill>
            <a:prstDash val="solid"/>
          </a:ln>
          <a:effectLst>
            <a:outerShdw blurRad="635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4" name="Shape 10"/>
          <p:cNvSpPr/>
          <p:nvPr/>
        </p:nvSpPr>
        <p:spPr>
          <a:xfrm>
            <a:off x="4471416" y="1655064"/>
            <a:ext cx="91440" cy="91440"/>
          </a:xfrm>
          <a:prstGeom prst="ellipse">
            <a:avLst/>
          </a:prstGeom>
          <a:solidFill>
            <a:srgbClr val="E25555"/>
          </a:solidFill>
          <a:ln/>
        </p:spPr>
      </p:sp>
      <p:sp>
        <p:nvSpPr>
          <p:cNvPr id="15" name="Shape 11"/>
          <p:cNvSpPr/>
          <p:nvPr/>
        </p:nvSpPr>
        <p:spPr>
          <a:xfrm>
            <a:off x="4654296" y="1655064"/>
            <a:ext cx="91440" cy="91440"/>
          </a:xfrm>
          <a:prstGeom prst="ellipse">
            <a:avLst/>
          </a:prstGeom>
          <a:solidFill>
            <a:srgbClr val="E2B14D"/>
          </a:solidFill>
          <a:ln/>
        </p:spPr>
      </p:sp>
      <p:sp>
        <p:nvSpPr>
          <p:cNvPr id="16" name="Shape 12"/>
          <p:cNvSpPr/>
          <p:nvPr/>
        </p:nvSpPr>
        <p:spPr>
          <a:xfrm>
            <a:off x="4837176" y="1655064"/>
            <a:ext cx="91440" cy="91440"/>
          </a:xfrm>
          <a:prstGeom prst="ellipse">
            <a:avLst/>
          </a:prstGeom>
          <a:solidFill>
            <a:srgbClr val="39B36B"/>
          </a:solidFill>
          <a:ln/>
        </p:spPr>
      </p:sp>
      <p:pic>
        <p:nvPicPr>
          <p:cNvPr id="17" name="Image 2" descr="/home/claude/project/thumbs/about_thumb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4389120" y="1847088"/>
            <a:ext cx="3410712" cy="3191256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4334256" y="5129784"/>
            <a:ext cx="3520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63A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About Page</a:t>
            </a:r>
            <a:endParaRPr lang="en-US" sz="1200" dirty="0"/>
          </a:p>
        </p:txBody>
      </p:sp>
      <p:sp>
        <p:nvSpPr>
          <p:cNvPr id="19" name="Shape 14"/>
          <p:cNvSpPr/>
          <p:nvPr/>
        </p:nvSpPr>
        <p:spPr>
          <a:xfrm>
            <a:off x="8083296" y="1554480"/>
            <a:ext cx="3520440" cy="3538728"/>
          </a:xfrm>
          <a:prstGeom prst="roundRect">
            <a:avLst>
              <a:gd name="adj" fmla="val 1558"/>
            </a:avLst>
          </a:prstGeom>
          <a:solidFill>
            <a:srgbClr val="FFFFFF"/>
          </a:solidFill>
          <a:ln w="12700">
            <a:solidFill>
              <a:srgbClr val="CFEDE8"/>
            </a:solidFill>
            <a:prstDash val="solid"/>
          </a:ln>
          <a:effectLst>
            <a:outerShdw blurRad="635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8220456" y="1655064"/>
            <a:ext cx="91440" cy="91440"/>
          </a:xfrm>
          <a:prstGeom prst="ellipse">
            <a:avLst/>
          </a:prstGeom>
          <a:solidFill>
            <a:srgbClr val="E25555"/>
          </a:solidFill>
          <a:ln/>
        </p:spPr>
      </p:sp>
      <p:sp>
        <p:nvSpPr>
          <p:cNvPr id="21" name="Shape 16"/>
          <p:cNvSpPr/>
          <p:nvPr/>
        </p:nvSpPr>
        <p:spPr>
          <a:xfrm>
            <a:off x="8403336" y="1655064"/>
            <a:ext cx="91440" cy="91440"/>
          </a:xfrm>
          <a:prstGeom prst="ellipse">
            <a:avLst/>
          </a:prstGeom>
          <a:solidFill>
            <a:srgbClr val="E2B14D"/>
          </a:solidFill>
          <a:ln/>
        </p:spPr>
      </p:sp>
      <p:sp>
        <p:nvSpPr>
          <p:cNvPr id="22" name="Shape 17"/>
          <p:cNvSpPr/>
          <p:nvPr/>
        </p:nvSpPr>
        <p:spPr>
          <a:xfrm>
            <a:off x="8586216" y="1655064"/>
            <a:ext cx="91440" cy="91440"/>
          </a:xfrm>
          <a:prstGeom prst="ellipse">
            <a:avLst/>
          </a:prstGeom>
          <a:solidFill>
            <a:srgbClr val="39B36B"/>
          </a:solidFill>
          <a:ln/>
        </p:spPr>
      </p:sp>
      <p:pic>
        <p:nvPicPr>
          <p:cNvPr id="23" name="Image 3" descr="/home/claude/project/thumbs/skills_thumb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8138160" y="1847088"/>
            <a:ext cx="3410712" cy="3191256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8083296" y="5129784"/>
            <a:ext cx="3520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63A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Skills Page</a:t>
            </a:r>
            <a:endParaRPr lang="en-US" sz="1200" dirty="0"/>
          </a:p>
        </p:txBody>
      </p:sp>
      <p:sp>
        <p:nvSpPr>
          <p:cNvPr id="25" name="Text 19"/>
          <p:cNvSpPr/>
          <p:nvPr/>
        </p:nvSpPr>
        <p:spPr>
          <a:xfrm>
            <a:off x="11365992" y="635508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C7A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566928" cy="566928"/>
          </a:xfrm>
          <a:prstGeom prst="ellipse">
            <a:avLst/>
          </a:prstGeom>
          <a:solidFill>
            <a:srgbClr val="EAF7F5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" y="548640"/>
            <a:ext cx="310896" cy="31089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88720" y="36576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63A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Screenshots — Projects, Gallery, Contact</a:t>
            </a:r>
            <a:endParaRPr lang="en-US" sz="2800" dirty="0"/>
          </a:p>
        </p:txBody>
      </p:sp>
      <p:sp>
        <p:nvSpPr>
          <p:cNvPr id="5" name="Text 2"/>
          <p:cNvSpPr/>
          <p:nvPr/>
        </p:nvSpPr>
        <p:spPr>
          <a:xfrm>
            <a:off x="8531352" y="50292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50" dirty="0">
                <a:solidFill>
                  <a:srgbClr val="5C7A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 Portfolio Website  •  HTML Project</a:t>
            </a:r>
            <a:endParaRPr lang="en-US" sz="1050" dirty="0"/>
          </a:p>
        </p:txBody>
      </p:sp>
      <p:sp>
        <p:nvSpPr>
          <p:cNvPr id="6" name="Shape 3"/>
          <p:cNvSpPr/>
          <p:nvPr/>
        </p:nvSpPr>
        <p:spPr>
          <a:xfrm>
            <a:off x="457200" y="1143000"/>
            <a:ext cx="11274552" cy="0"/>
          </a:xfrm>
          <a:prstGeom prst="line">
            <a:avLst/>
          </a:prstGeom>
          <a:noFill/>
          <a:ln w="15875">
            <a:solidFill>
              <a:srgbClr val="CFEDE8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585216" y="1554480"/>
            <a:ext cx="3520440" cy="3538728"/>
          </a:xfrm>
          <a:prstGeom prst="roundRect">
            <a:avLst>
              <a:gd name="adj" fmla="val 1558"/>
            </a:avLst>
          </a:prstGeom>
          <a:solidFill>
            <a:srgbClr val="FFFFFF"/>
          </a:solidFill>
          <a:ln w="12700">
            <a:solidFill>
              <a:srgbClr val="CFEDE8"/>
            </a:solidFill>
            <a:prstDash val="solid"/>
          </a:ln>
          <a:effectLst>
            <a:outerShdw blurRad="635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722376" y="1655064"/>
            <a:ext cx="91440" cy="91440"/>
          </a:xfrm>
          <a:prstGeom prst="ellipse">
            <a:avLst/>
          </a:prstGeom>
          <a:solidFill>
            <a:srgbClr val="E25555"/>
          </a:solidFill>
          <a:ln/>
        </p:spPr>
      </p:sp>
      <p:sp>
        <p:nvSpPr>
          <p:cNvPr id="9" name="Shape 6"/>
          <p:cNvSpPr/>
          <p:nvPr/>
        </p:nvSpPr>
        <p:spPr>
          <a:xfrm>
            <a:off x="905256" y="1655064"/>
            <a:ext cx="91440" cy="91440"/>
          </a:xfrm>
          <a:prstGeom prst="ellipse">
            <a:avLst/>
          </a:prstGeom>
          <a:solidFill>
            <a:srgbClr val="E2B14D"/>
          </a:solidFill>
          <a:ln/>
        </p:spPr>
      </p:sp>
      <p:sp>
        <p:nvSpPr>
          <p:cNvPr id="10" name="Shape 7"/>
          <p:cNvSpPr/>
          <p:nvPr/>
        </p:nvSpPr>
        <p:spPr>
          <a:xfrm>
            <a:off x="1088136" y="1655064"/>
            <a:ext cx="91440" cy="91440"/>
          </a:xfrm>
          <a:prstGeom prst="ellipse">
            <a:avLst/>
          </a:prstGeom>
          <a:solidFill>
            <a:srgbClr val="39B36B"/>
          </a:solidFill>
          <a:ln/>
        </p:spPr>
      </p:sp>
      <p:pic>
        <p:nvPicPr>
          <p:cNvPr id="11" name="Image 1" descr="/home/claude/project/thumbs/projects_thumb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640080" y="1847088"/>
            <a:ext cx="3410712" cy="3191256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85216" y="5129784"/>
            <a:ext cx="3520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63A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Projects Page</a:t>
            </a:r>
            <a:endParaRPr lang="en-US" sz="1200" dirty="0"/>
          </a:p>
        </p:txBody>
      </p:sp>
      <p:sp>
        <p:nvSpPr>
          <p:cNvPr id="13" name="Shape 9"/>
          <p:cNvSpPr/>
          <p:nvPr/>
        </p:nvSpPr>
        <p:spPr>
          <a:xfrm>
            <a:off x="4334256" y="1554480"/>
            <a:ext cx="3520440" cy="3538728"/>
          </a:xfrm>
          <a:prstGeom prst="roundRect">
            <a:avLst>
              <a:gd name="adj" fmla="val 1558"/>
            </a:avLst>
          </a:prstGeom>
          <a:solidFill>
            <a:srgbClr val="FFFFFF"/>
          </a:solidFill>
          <a:ln w="12700">
            <a:solidFill>
              <a:srgbClr val="CFEDE8"/>
            </a:solidFill>
            <a:prstDash val="solid"/>
          </a:ln>
          <a:effectLst>
            <a:outerShdw blurRad="635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4" name="Shape 10"/>
          <p:cNvSpPr/>
          <p:nvPr/>
        </p:nvSpPr>
        <p:spPr>
          <a:xfrm>
            <a:off x="4471416" y="1655064"/>
            <a:ext cx="91440" cy="91440"/>
          </a:xfrm>
          <a:prstGeom prst="ellipse">
            <a:avLst/>
          </a:prstGeom>
          <a:solidFill>
            <a:srgbClr val="E25555"/>
          </a:solidFill>
          <a:ln/>
        </p:spPr>
      </p:sp>
      <p:sp>
        <p:nvSpPr>
          <p:cNvPr id="15" name="Shape 11"/>
          <p:cNvSpPr/>
          <p:nvPr/>
        </p:nvSpPr>
        <p:spPr>
          <a:xfrm>
            <a:off x="4654296" y="1655064"/>
            <a:ext cx="91440" cy="91440"/>
          </a:xfrm>
          <a:prstGeom prst="ellipse">
            <a:avLst/>
          </a:prstGeom>
          <a:solidFill>
            <a:srgbClr val="E2B14D"/>
          </a:solidFill>
          <a:ln/>
        </p:spPr>
      </p:sp>
      <p:sp>
        <p:nvSpPr>
          <p:cNvPr id="16" name="Shape 12"/>
          <p:cNvSpPr/>
          <p:nvPr/>
        </p:nvSpPr>
        <p:spPr>
          <a:xfrm>
            <a:off x="4837176" y="1655064"/>
            <a:ext cx="91440" cy="91440"/>
          </a:xfrm>
          <a:prstGeom prst="ellipse">
            <a:avLst/>
          </a:prstGeom>
          <a:solidFill>
            <a:srgbClr val="39B36B"/>
          </a:solidFill>
          <a:ln/>
        </p:spPr>
      </p:sp>
      <p:pic>
        <p:nvPicPr>
          <p:cNvPr id="17" name="Image 2" descr="/home/claude/project/thumbs/gallery_thumb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4389120" y="1847088"/>
            <a:ext cx="3410712" cy="3191256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4334256" y="5129784"/>
            <a:ext cx="3520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63A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Gallery Page</a:t>
            </a:r>
            <a:endParaRPr lang="en-US" sz="1200" dirty="0"/>
          </a:p>
        </p:txBody>
      </p:sp>
      <p:sp>
        <p:nvSpPr>
          <p:cNvPr id="19" name="Shape 14"/>
          <p:cNvSpPr/>
          <p:nvPr/>
        </p:nvSpPr>
        <p:spPr>
          <a:xfrm>
            <a:off x="8083296" y="1554480"/>
            <a:ext cx="3520440" cy="3538728"/>
          </a:xfrm>
          <a:prstGeom prst="roundRect">
            <a:avLst>
              <a:gd name="adj" fmla="val 1558"/>
            </a:avLst>
          </a:prstGeom>
          <a:solidFill>
            <a:srgbClr val="FFFFFF"/>
          </a:solidFill>
          <a:ln w="12700">
            <a:solidFill>
              <a:srgbClr val="CFEDE8"/>
            </a:solidFill>
            <a:prstDash val="solid"/>
          </a:ln>
          <a:effectLst>
            <a:outerShdw blurRad="635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8220456" y="1655064"/>
            <a:ext cx="91440" cy="91440"/>
          </a:xfrm>
          <a:prstGeom prst="ellipse">
            <a:avLst/>
          </a:prstGeom>
          <a:solidFill>
            <a:srgbClr val="E25555"/>
          </a:solidFill>
          <a:ln/>
        </p:spPr>
      </p:sp>
      <p:sp>
        <p:nvSpPr>
          <p:cNvPr id="21" name="Shape 16"/>
          <p:cNvSpPr/>
          <p:nvPr/>
        </p:nvSpPr>
        <p:spPr>
          <a:xfrm>
            <a:off x="8403336" y="1655064"/>
            <a:ext cx="91440" cy="91440"/>
          </a:xfrm>
          <a:prstGeom prst="ellipse">
            <a:avLst/>
          </a:prstGeom>
          <a:solidFill>
            <a:srgbClr val="E2B14D"/>
          </a:solidFill>
          <a:ln/>
        </p:spPr>
      </p:sp>
      <p:sp>
        <p:nvSpPr>
          <p:cNvPr id="22" name="Shape 17"/>
          <p:cNvSpPr/>
          <p:nvPr/>
        </p:nvSpPr>
        <p:spPr>
          <a:xfrm>
            <a:off x="8586216" y="1655064"/>
            <a:ext cx="91440" cy="91440"/>
          </a:xfrm>
          <a:prstGeom prst="ellipse">
            <a:avLst/>
          </a:prstGeom>
          <a:solidFill>
            <a:srgbClr val="39B36B"/>
          </a:solidFill>
          <a:ln/>
        </p:spPr>
      </p:sp>
      <p:pic>
        <p:nvPicPr>
          <p:cNvPr id="23" name="Image 3" descr="/home/claude/project/thumbs/contact_thumb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8138160" y="1847088"/>
            <a:ext cx="3410712" cy="3191256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8083296" y="5129784"/>
            <a:ext cx="3520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63A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Contact Page</a:t>
            </a:r>
            <a:endParaRPr lang="en-US" sz="1200" dirty="0"/>
          </a:p>
        </p:txBody>
      </p:sp>
      <p:sp>
        <p:nvSpPr>
          <p:cNvPr id="25" name="Text 19"/>
          <p:cNvSpPr/>
          <p:nvPr/>
        </p:nvSpPr>
        <p:spPr>
          <a:xfrm>
            <a:off x="11365992" y="635508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C7A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62C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463040" y="-1463040"/>
            <a:ext cx="4114800" cy="4114800"/>
          </a:xfrm>
          <a:prstGeom prst="ellipse">
            <a:avLst/>
          </a:prstGeom>
          <a:solidFill>
            <a:srgbClr val="028090">
              <a:alpha val="2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9875520" y="4754880"/>
            <a:ext cx="3840480" cy="3840480"/>
          </a:xfrm>
          <a:prstGeom prst="ellipse">
            <a:avLst/>
          </a:prstGeom>
          <a:solidFill>
            <a:srgbClr val="00A896">
              <a:alpha val="18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502920"/>
            <a:ext cx="566928" cy="566928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640080"/>
            <a:ext cx="292608" cy="29260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280160" y="45720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2800" dirty="0"/>
          </a:p>
        </p:txBody>
      </p:sp>
      <p:sp>
        <p:nvSpPr>
          <p:cNvPr id="7" name="Shape 4"/>
          <p:cNvSpPr/>
          <p:nvPr/>
        </p:nvSpPr>
        <p:spPr>
          <a:xfrm>
            <a:off x="594360" y="1636776"/>
            <a:ext cx="256032" cy="256032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8" name="Text 5"/>
          <p:cNvSpPr/>
          <p:nvPr/>
        </p:nvSpPr>
        <p:spPr>
          <a:xfrm>
            <a:off x="1051560" y="1545336"/>
            <a:ext cx="10241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5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Successfully brings together education, skills, projects and contact details into one organised website.</a:t>
            </a:r>
            <a:endParaRPr lang="en-US" sz="1550" dirty="0"/>
          </a:p>
        </p:txBody>
      </p:sp>
      <p:sp>
        <p:nvSpPr>
          <p:cNvPr id="9" name="Shape 6"/>
          <p:cNvSpPr/>
          <p:nvPr/>
        </p:nvSpPr>
        <p:spPr>
          <a:xfrm>
            <a:off x="594360" y="2596896"/>
            <a:ext cx="256032" cy="256032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0" name="Text 7"/>
          <p:cNvSpPr/>
          <p:nvPr/>
        </p:nvSpPr>
        <p:spPr>
          <a:xfrm>
            <a:off x="1051560" y="2505456"/>
            <a:ext cx="10241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5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Achieved the goal of practising and applying a wide range of core HTML elements.</a:t>
            </a:r>
            <a:endParaRPr lang="en-US" sz="1550" dirty="0"/>
          </a:p>
        </p:txBody>
      </p:sp>
      <p:sp>
        <p:nvSpPr>
          <p:cNvPr id="11" name="Shape 8"/>
          <p:cNvSpPr/>
          <p:nvPr/>
        </p:nvSpPr>
        <p:spPr>
          <a:xfrm>
            <a:off x="594360" y="3557016"/>
            <a:ext cx="256032" cy="256032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2" name="Text 9"/>
          <p:cNvSpPr/>
          <p:nvPr/>
        </p:nvSpPr>
        <p:spPr>
          <a:xfrm>
            <a:off x="1051560" y="3465576"/>
            <a:ext cx="10241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5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Provides a solid foundation to layer on CSS, JavaScript and Bootstrap next.</a:t>
            </a:r>
            <a:endParaRPr lang="en-US" sz="1550" dirty="0"/>
          </a:p>
        </p:txBody>
      </p:sp>
      <p:sp>
        <p:nvSpPr>
          <p:cNvPr id="13" name="Shape 10"/>
          <p:cNvSpPr/>
          <p:nvPr/>
        </p:nvSpPr>
        <p:spPr>
          <a:xfrm>
            <a:off x="594360" y="4517136"/>
            <a:ext cx="256032" cy="256032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4" name="Text 11"/>
          <p:cNvSpPr/>
          <p:nvPr/>
        </p:nvSpPr>
        <p:spPr>
          <a:xfrm>
            <a:off x="1051560" y="4425696"/>
            <a:ext cx="10241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5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ready, shareable asset to support the search for a Full Stack Developer fresher role.</a:t>
            </a:r>
            <a:endParaRPr lang="en-US" sz="1550" dirty="0"/>
          </a:p>
        </p:txBody>
      </p:sp>
      <p:sp>
        <p:nvSpPr>
          <p:cNvPr id="15" name="Text 12"/>
          <p:cNvSpPr/>
          <p:nvPr/>
        </p:nvSpPr>
        <p:spPr>
          <a:xfrm>
            <a:off x="11365992" y="635508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C7A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62C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961120" y="-1097280"/>
            <a:ext cx="3657600" cy="3657600"/>
          </a:xfrm>
          <a:prstGeom prst="ellipse">
            <a:avLst/>
          </a:prstGeom>
          <a:solidFill>
            <a:srgbClr val="028090">
              <a:alpha val="22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280160" y="4206240"/>
            <a:ext cx="3840480" cy="3840480"/>
          </a:xfrm>
          <a:prstGeom prst="ellipse">
            <a:avLst/>
          </a:prstGeom>
          <a:solidFill>
            <a:srgbClr val="00A896">
              <a:alpha val="18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2286000"/>
            <a:ext cx="11274552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4000" dirty="0"/>
          </a:p>
        </p:txBody>
      </p:sp>
      <p:sp>
        <p:nvSpPr>
          <p:cNvPr id="5" name="Shape 3"/>
          <p:cNvSpPr/>
          <p:nvPr/>
        </p:nvSpPr>
        <p:spPr>
          <a:xfrm>
            <a:off x="5088636" y="3246120"/>
            <a:ext cx="2011680" cy="0"/>
          </a:xfrm>
          <a:prstGeom prst="line">
            <a:avLst/>
          </a:prstGeom>
          <a:noFill/>
          <a:ln w="19050">
            <a:solidFill>
              <a:srgbClr val="02C39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3474720"/>
            <a:ext cx="112745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Krishnasai Doddapuneni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457200" y="4023360"/>
            <a:ext cx="112745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CFE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krishnasaidoddapuneni@gmail.com   •   +91 6300096147   </a:t>
            </a:r>
            <a:endParaRPr lang="en-US" sz="12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895</Words>
  <Application>Microsoft Office PowerPoint</Application>
  <PresentationFormat>Widescreen</PresentationFormat>
  <Paragraphs>134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7" baseType="lpstr">
      <vt:lpstr>Arial</vt:lpstr>
      <vt:lpstr>Calibri</vt:lpstr>
      <vt:lpstr>Cambria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Personal Portfolio Website - HTML Project</dc:title>
  <dc:subject>PptxGenJS Presentation</dc:subject>
  <dc:creator>Krishnasai Doddapuneni</dc:creator>
  <cp:lastModifiedBy>Krishna sai</cp:lastModifiedBy>
  <cp:revision>2</cp:revision>
  <dcterms:created xsi:type="dcterms:W3CDTF">2026-06-19T17:42:57Z</dcterms:created>
  <dcterms:modified xsi:type="dcterms:W3CDTF">2026-06-19T17:52:48Z</dcterms:modified>
</cp:coreProperties>
</file>